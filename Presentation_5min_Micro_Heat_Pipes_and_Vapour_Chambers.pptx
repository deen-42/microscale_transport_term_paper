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35 s) Everyone has felt a phone get hot during a game. The phone protects itself by slowing the chip down. In a study on a Nexus 6P, this throttling cut the frame rate of a game from 35 to 23 frames per second, a 34 percent loss. The limit is the temperature of the phone's skin, not of the silicon, and there is no fan. So the real job is to spread heat quickly and evenly through a body under a centimetre thick. My topic is micro heat pipes and vapour chambers, which do this with no moving parts, and I will show that this is a microscale transport story.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 Why does this work in a phone? Three scaling numbers from Lecture 1. First, the Bond number compares gravity to surface tension. For water, the capillary length is 2.6 millimetres. At wick scales of 0.1 millimetre the Bond number is about a thousandth, so capillary forces win and the device works upside down. Second, the square-cube law: at 0.2 millimetre the surface-to-volume ratio is about ten thousand per metre, so surfaces, where evaporation and friction happen, dominate. Third, the Knudsen number is about a thousandth, so the vapour is still a continuum and ordinary Navier-Stokes works. The vapour Reynolds number is about 13, so the flow is laminar.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60 s) Here is a vapour chamber, a flat heat pipe, with the thickness exaggerated. The chip sits at the left. Step one: liquid in the wick next to the chip evaporates and takes up its latent heat. Step two: the vapour flows through the thin core to the cooler region, driven by a tiny pressure difference. Step three: it condenses, gives the heat to the phone body, and the liquid returns through the porous wick by capillary pumping. The pressure comes from the curved meniscus, two sigma cos theta over the pore radius. The big advantage is latent heat: five watts needs only about two milligrams per second of water, roughly 56 times less than carrying that heat as ordinary warm water. A micro heat pipe is the same idea in a single tiny groove, where the corners of the groove act as the wick.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75 s) Two trade-offs fix the design, and I worked them out with the equations from our lectures for a 5 watt load. Left: the wick. Capillary pressure goes as one over the pore radius, but permeability goes as radius squared. Fine pores of 10 microns give 26 kilopascals but can carry only about 3 watts, so a 5 watt load dries out the evaporator. Coarser 50 micron pores carry about 16 watts. But coarse pores give less pumping pressure and a thicker, more resistive evaporator, so real designs use biporous wicks. Right: the vapour core. The pressure drop in a thin slit goes as one over thickness cubed, the same Hagen-Poiseuille physics as the pressure-drop slides in Lecture 4. Through the saturation curve, pressure drop becomes temperature drop. Halving the core from 0.2 to 0.1 millimetre raises the penalty from 0.3 kelvin to 2.6 kelvin. That is why ultra-thin chambers are hard. These are order-of-magnitude estimates, not a product design.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 Making them uses both manufacturing philosophies from the course. Top-down: etching grooves and channels, like the V-grooves shown in Lecture 2, and bonding plates into a sealed envelope, as in the diffusion-bonded foils of Lecture 4. Bottom-up: sintered powder wicks and nanostructured surfaces, from Lecture 3. The classical limits are capillary, boiling and dry-out, entrainment, and vapour choking in very thin cores. Lecture 4 adds corrosion and fouling: a 100 micron corrosion layer is tolerable in a big pipe but fatal in a microchannel, so fluid and material must be compatible for life. And a design win: Patankar and co-workers used a biporous condenser-side wick to cut the peak-to-mean skin temperature difference by 37 percent.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 To sum up. Surface tension is the engine: at a Bond number of a thousandth, capillary pumping works in any orientation. Latent heat is the payload: almost uniform temperature with milligrams of fluid. And thin is the hard part: the wick trades pressure against permeability, and the vapour core pressure drop scales as one over thickness cubed. Thank you. Full references with links are in the paper.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63A"/>
        </a:solidFill>
        <a:effectLst/>
      </p:bgPr>
    </p:bg>
    <p:spTree>
      <p:nvGrpSpPr>
        <p:cNvPr id="1" name=""/>
        <p:cNvGrpSpPr/>
        <p:nvPr/>
      </p:nvGrpSpPr>
      <p:grpSpPr/>
      <p:sp>
        <p:nvSpPr>
          <p:cNvPr id="2" name="TextBox 1"/>
          <p:cNvSpPr txBox="1"/>
          <p:nvPr/>
        </p:nvSpPr>
        <p:spPr>
          <a:xfrm>
            <a:off x="640080" y="640080"/>
            <a:ext cx="7315200" cy="365760"/>
          </a:xfrm>
          <a:prstGeom prst="rect">
            <a:avLst/>
          </a:prstGeom>
          <a:noFill/>
        </p:spPr>
        <p:txBody>
          <a:bodyPr wrap="square" lIns="0" rIns="0" tIns="0" bIns="0" anchor="t">
            <a:spAutoFit/>
          </a:bodyPr>
          <a:lstStyle/>
          <a:p>
            <a:pPr algn="l">
              <a:spcAft>
                <a:spcPts val="0"/>
              </a:spcAft>
            </a:pPr>
            <a:r>
              <a:rPr sz="1300" b="1" i="0">
                <a:solidFill>
                  <a:srgbClr val="BFD3E3"/>
                </a:solidFill>
                <a:latin typeface="Calibri"/>
              </a:rPr>
              <a:t>MICROSCALE TRANSPORT PROCESSES  ·  TERM PAPER</a:t>
            </a:r>
          </a:p>
        </p:txBody>
      </p:sp>
      <p:sp>
        <p:nvSpPr>
          <p:cNvPr id="3" name="Title"/>
          <p:cNvSpPr txBox="1"/>
          <p:nvPr/>
        </p:nvSpPr>
        <p:spPr>
          <a:xfrm>
            <a:off x="640080" y="1554480"/>
            <a:ext cx="6766560" cy="2377440"/>
          </a:xfrm>
          <a:prstGeom prst="rect">
            <a:avLst/>
          </a:prstGeom>
          <a:noFill/>
        </p:spPr>
        <p:txBody>
          <a:bodyPr wrap="square" lIns="0" rIns="0" tIns="0" bIns="0" anchor="t">
            <a:spAutoFit/>
          </a:bodyPr>
          <a:lstStyle/>
          <a:p>
            <a:pPr algn="l">
              <a:spcAft>
                <a:spcPts val="0"/>
              </a:spcAft>
            </a:pPr>
            <a:r>
              <a:rPr sz="4600" b="1" i="0">
                <a:solidFill>
                  <a:srgbClr val="FFFFFF"/>
                </a:solidFill>
                <a:latin typeface="Cambria"/>
              </a:rPr>
              <a:t>Micro heat pipes and vapour chambers</a:t>
            </a:r>
          </a:p>
        </p:txBody>
      </p:sp>
      <p:sp>
        <p:nvSpPr>
          <p:cNvPr id="4" name="TextBox 3"/>
          <p:cNvSpPr txBox="1"/>
          <p:nvPr/>
        </p:nvSpPr>
        <p:spPr>
          <a:xfrm>
            <a:off x="640080" y="3977639"/>
            <a:ext cx="6583680" cy="914400"/>
          </a:xfrm>
          <a:prstGeom prst="rect">
            <a:avLst/>
          </a:prstGeom>
          <a:noFill/>
        </p:spPr>
        <p:txBody>
          <a:bodyPr wrap="square" lIns="0" rIns="0" tIns="0" bIns="0" anchor="t">
            <a:spAutoFit/>
          </a:bodyPr>
          <a:lstStyle/>
          <a:p>
            <a:pPr algn="l">
              <a:spcAft>
                <a:spcPts val="0"/>
              </a:spcAft>
            </a:pPr>
            <a:r>
              <a:rPr sz="2200" b="0" i="0">
                <a:solidFill>
                  <a:srgbClr val="BFD3E3"/>
                </a:solidFill>
                <a:latin typeface="Calibri"/>
              </a:rPr>
              <a:t>Passive two-phase cooling for smartphones and chips</a:t>
            </a:r>
          </a:p>
        </p:txBody>
      </p:sp>
      <p:sp>
        <p:nvSpPr>
          <p:cNvPr id="5" name="TextBox 4"/>
          <p:cNvSpPr txBox="1"/>
          <p:nvPr/>
        </p:nvSpPr>
        <p:spPr>
          <a:xfrm>
            <a:off x="640080" y="5852160"/>
            <a:ext cx="6858000" cy="365760"/>
          </a:xfrm>
          <a:prstGeom prst="rect">
            <a:avLst/>
          </a:prstGeom>
          <a:noFill/>
        </p:spPr>
        <p:txBody>
          <a:bodyPr wrap="square" lIns="0" rIns="0" tIns="0" bIns="0" anchor="t">
            <a:spAutoFit/>
          </a:bodyPr>
          <a:lstStyle/>
          <a:p>
            <a:pPr algn="l">
              <a:spcAft>
                <a:spcPts val="0"/>
              </a:spcAft>
            </a:pPr>
            <a:r>
              <a:rPr sz="1400" b="0" i="0">
                <a:solidFill>
                  <a:srgbClr val="BFD3E3"/>
                </a:solidFill>
                <a:latin typeface="Calibri"/>
              </a:rPr>
              <a:t>[Your name]  ·  [Roll number]</a:t>
            </a:r>
          </a:p>
        </p:txBody>
      </p:sp>
      <p:sp>
        <p:nvSpPr>
          <p:cNvPr id="6" name="Hook card"/>
          <p:cNvSpPr/>
          <p:nvPr/>
        </p:nvSpPr>
        <p:spPr>
          <a:xfrm>
            <a:off x="7863840" y="1463040"/>
            <a:ext cx="3749039" cy="3931920"/>
          </a:xfrm>
          <a:prstGeom prst="roundRect">
            <a:avLst>
              <a:gd name="adj" fmla="val 6000"/>
            </a:avLst>
          </a:prstGeom>
          <a:solidFill>
            <a:srgbClr val="1C3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ook number"/>
          <p:cNvSpPr txBox="1"/>
          <p:nvPr/>
        </p:nvSpPr>
        <p:spPr>
          <a:xfrm>
            <a:off x="8183879" y="1783080"/>
            <a:ext cx="3108960" cy="1188720"/>
          </a:xfrm>
          <a:prstGeom prst="rect">
            <a:avLst/>
          </a:prstGeom>
          <a:noFill/>
        </p:spPr>
        <p:txBody>
          <a:bodyPr wrap="square" lIns="0" rIns="0" tIns="0" bIns="0" anchor="t">
            <a:spAutoFit/>
          </a:bodyPr>
          <a:lstStyle/>
          <a:p>
            <a:pPr algn="l">
              <a:spcAft>
                <a:spcPts val="0"/>
              </a:spcAft>
            </a:pPr>
            <a:r>
              <a:rPr sz="7200" b="1" i="0">
                <a:solidFill>
                  <a:srgbClr val="C8693A"/>
                </a:solidFill>
                <a:latin typeface="Cambria"/>
              </a:rPr>
              <a:t>−34%</a:t>
            </a:r>
          </a:p>
        </p:txBody>
      </p:sp>
      <p:sp>
        <p:nvSpPr>
          <p:cNvPr id="8" name="TextBox 7"/>
          <p:cNvSpPr txBox="1"/>
          <p:nvPr/>
        </p:nvSpPr>
        <p:spPr>
          <a:xfrm>
            <a:off x="8183879" y="3154680"/>
            <a:ext cx="3108960" cy="1463040"/>
          </a:xfrm>
          <a:prstGeom prst="rect">
            <a:avLst/>
          </a:prstGeom>
          <a:noFill/>
        </p:spPr>
        <p:txBody>
          <a:bodyPr wrap="square" lIns="0" rIns="0" tIns="0" bIns="0" anchor="t">
            <a:spAutoFit/>
          </a:bodyPr>
          <a:lstStyle/>
          <a:p>
            <a:pPr algn="l">
              <a:spcAft>
                <a:spcPts val="0"/>
              </a:spcAft>
            </a:pPr>
            <a:r>
              <a:rPr sz="1800" b="0" i="0">
                <a:solidFill>
                  <a:srgbClr val="FFFFFF"/>
                </a:solidFill>
                <a:latin typeface="Calibri"/>
              </a:rPr>
              <a:t>frame rate of a popular game on a Nexus 6P when thermal throttling kicks in (35 → 23 FPS)</a:t>
            </a:r>
          </a:p>
        </p:txBody>
      </p:sp>
      <p:sp>
        <p:nvSpPr>
          <p:cNvPr id="9" name="TextBox 8"/>
          <p:cNvSpPr txBox="1"/>
          <p:nvPr/>
        </p:nvSpPr>
        <p:spPr>
          <a:xfrm>
            <a:off x="8183879" y="4754880"/>
            <a:ext cx="3108960" cy="457200"/>
          </a:xfrm>
          <a:prstGeom prst="rect">
            <a:avLst/>
          </a:prstGeom>
          <a:noFill/>
        </p:spPr>
        <p:txBody>
          <a:bodyPr wrap="square" lIns="0" rIns="0" tIns="0" bIns="0" anchor="t">
            <a:spAutoFit/>
          </a:bodyPr>
          <a:lstStyle/>
          <a:p>
            <a:pPr algn="l">
              <a:spcAft>
                <a:spcPts val="0"/>
              </a:spcAft>
            </a:pPr>
            <a:r>
              <a:rPr sz="1200" b="0" i="0">
                <a:solidFill>
                  <a:srgbClr val="BFD3E3"/>
                </a:solidFill>
                <a:latin typeface="Calibri"/>
              </a:rPr>
              <a:t>Bhat et al., DATE 2019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lIns="0" rIns="0" tIns="0" bIns="0" anchor="ctr">
            <a:spAutoFit/>
          </a:bodyPr>
          <a:lstStyle/>
          <a:p>
            <a:pPr algn="l">
              <a:spcAft>
                <a:spcPts val="0"/>
              </a:spcAft>
            </a:pPr>
            <a:r>
              <a:rPr sz="3400" b="1" i="0">
                <a:solidFill>
                  <a:srgbClr val="12263A"/>
                </a:solidFill>
                <a:latin typeface="Cambria"/>
              </a:rPr>
              <a:t>At 0.1 mm, surface tension beats gravity</a:t>
            </a:r>
          </a:p>
        </p:txBody>
      </p:sp>
      <p:pic>
        <p:nvPicPr>
          <p:cNvPr id="3" name="Bond number plot" descr="fig2_bond_number.png"/>
          <p:cNvPicPr>
            <a:picLocks noChangeAspect="1"/>
          </p:cNvPicPr>
          <p:nvPr/>
        </p:nvPicPr>
        <p:blipFill>
          <a:blip r:embed="rId2"/>
          <a:stretch>
            <a:fillRect/>
          </a:stretch>
        </p:blipFill>
        <p:spPr>
          <a:xfrm>
            <a:off x="548640" y="1602693"/>
            <a:ext cx="6309360" cy="4292693"/>
          </a:xfrm>
          <a:prstGeom prst="rect">
            <a:avLst/>
          </a:prstGeom>
        </p:spPr>
      </p:pic>
      <p:sp>
        <p:nvSpPr>
          <p:cNvPr id="4" name="Card"/>
          <p:cNvSpPr/>
          <p:nvPr/>
        </p:nvSpPr>
        <p:spPr>
          <a:xfrm>
            <a:off x="7223760" y="1508760"/>
            <a:ext cx="4434840" cy="141732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52360" y="1645919"/>
            <a:ext cx="4023360" cy="457200"/>
          </a:xfrm>
          <a:prstGeom prst="rect">
            <a:avLst/>
          </a:prstGeom>
          <a:noFill/>
        </p:spPr>
        <p:txBody>
          <a:bodyPr wrap="square" lIns="0" rIns="0" tIns="0" bIns="0" anchor="t">
            <a:spAutoFit/>
          </a:bodyPr>
          <a:lstStyle/>
          <a:p>
            <a:pPr algn="l">
              <a:spcAft>
                <a:spcPts val="0"/>
              </a:spcAft>
            </a:pPr>
            <a:r>
              <a:rPr sz="2400" b="1" i="0">
                <a:solidFill>
                  <a:srgbClr val="C8693A"/>
                </a:solidFill>
                <a:latin typeface="Cambria"/>
              </a:rPr>
              <a:t>Bo ≈ 10⁻³</a:t>
            </a:r>
          </a:p>
        </p:txBody>
      </p:sp>
      <p:sp>
        <p:nvSpPr>
          <p:cNvPr id="6" name="TextBox 5"/>
          <p:cNvSpPr txBox="1"/>
          <p:nvPr/>
        </p:nvSpPr>
        <p:spPr>
          <a:xfrm>
            <a:off x="7452360" y="2148839"/>
            <a:ext cx="4023360" cy="731520"/>
          </a:xfrm>
          <a:prstGeom prst="rect">
            <a:avLst/>
          </a:prstGeom>
          <a:noFill/>
        </p:spPr>
        <p:txBody>
          <a:bodyPr wrap="square" lIns="0" rIns="0" tIns="0" bIns="0" anchor="t">
            <a:spAutoFit/>
          </a:bodyPr>
          <a:lstStyle/>
          <a:p>
            <a:pPr algn="l">
              <a:spcAft>
                <a:spcPts val="0"/>
              </a:spcAft>
            </a:pPr>
            <a:r>
              <a:rPr sz="1400" b="0" i="0">
                <a:solidFill>
                  <a:srgbClr val="12263A"/>
                </a:solidFill>
                <a:latin typeface="Calibri"/>
              </a:rPr>
              <a:t>Bond number in wick pores and the vapour core. Liquid returns to the hot spot in any phone orientation.</a:t>
            </a:r>
          </a:p>
        </p:txBody>
      </p:sp>
      <p:sp>
        <p:nvSpPr>
          <p:cNvPr id="7" name="Card"/>
          <p:cNvSpPr/>
          <p:nvPr/>
        </p:nvSpPr>
        <p:spPr>
          <a:xfrm>
            <a:off x="7223760" y="3108960"/>
            <a:ext cx="4434840" cy="141732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3246120"/>
            <a:ext cx="4023360" cy="457200"/>
          </a:xfrm>
          <a:prstGeom prst="rect">
            <a:avLst/>
          </a:prstGeom>
          <a:noFill/>
        </p:spPr>
        <p:txBody>
          <a:bodyPr wrap="square" lIns="0" rIns="0" tIns="0" bIns="0" anchor="t">
            <a:spAutoFit/>
          </a:bodyPr>
          <a:lstStyle/>
          <a:p>
            <a:pPr algn="l">
              <a:spcAft>
                <a:spcPts val="0"/>
              </a:spcAft>
            </a:pPr>
            <a:r>
              <a:rPr sz="2400" b="1" i="0">
                <a:solidFill>
                  <a:srgbClr val="1F8A8A"/>
                </a:solidFill>
                <a:latin typeface="Cambria"/>
              </a:rPr>
              <a:t>A/V ≈ 10⁴ m²/m³</a:t>
            </a:r>
          </a:p>
        </p:txBody>
      </p:sp>
      <p:sp>
        <p:nvSpPr>
          <p:cNvPr id="9" name="TextBox 8"/>
          <p:cNvSpPr txBox="1"/>
          <p:nvPr/>
        </p:nvSpPr>
        <p:spPr>
          <a:xfrm>
            <a:off x="7452360" y="3749039"/>
            <a:ext cx="4023360" cy="731520"/>
          </a:xfrm>
          <a:prstGeom prst="rect">
            <a:avLst/>
          </a:prstGeom>
          <a:noFill/>
        </p:spPr>
        <p:txBody>
          <a:bodyPr wrap="square" lIns="0" rIns="0" tIns="0" bIns="0" anchor="t">
            <a:spAutoFit/>
          </a:bodyPr>
          <a:lstStyle/>
          <a:p>
            <a:pPr algn="l">
              <a:spcAft>
                <a:spcPts val="0"/>
              </a:spcAft>
            </a:pPr>
            <a:r>
              <a:rPr sz="1400" b="0" i="0">
                <a:solidFill>
                  <a:srgbClr val="12263A"/>
                </a:solidFill>
                <a:latin typeface="Calibri"/>
              </a:rPr>
              <a:t>Square–cube law: surfaces dominate. Evaporation, condensation and friction all happen at surfaces.</a:t>
            </a:r>
          </a:p>
        </p:txBody>
      </p:sp>
      <p:sp>
        <p:nvSpPr>
          <p:cNvPr id="10" name="Card"/>
          <p:cNvSpPr/>
          <p:nvPr/>
        </p:nvSpPr>
        <p:spPr>
          <a:xfrm>
            <a:off x="7223760" y="4709160"/>
            <a:ext cx="4434840" cy="141732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4846320"/>
            <a:ext cx="4023360" cy="457200"/>
          </a:xfrm>
          <a:prstGeom prst="rect">
            <a:avLst/>
          </a:prstGeom>
          <a:noFill/>
        </p:spPr>
        <p:txBody>
          <a:bodyPr wrap="square" lIns="0" rIns="0" tIns="0" bIns="0" anchor="t">
            <a:spAutoFit/>
          </a:bodyPr>
          <a:lstStyle/>
          <a:p>
            <a:pPr algn="l">
              <a:spcAft>
                <a:spcPts val="0"/>
              </a:spcAft>
            </a:pPr>
            <a:r>
              <a:rPr sz="2400" b="1" i="0">
                <a:solidFill>
                  <a:srgbClr val="12263A"/>
                </a:solidFill>
                <a:latin typeface="Cambria"/>
              </a:rPr>
              <a:t>Kn ≈ 10⁻³</a:t>
            </a:r>
          </a:p>
        </p:txBody>
      </p:sp>
      <p:sp>
        <p:nvSpPr>
          <p:cNvPr id="12" name="TextBox 11"/>
          <p:cNvSpPr txBox="1"/>
          <p:nvPr/>
        </p:nvSpPr>
        <p:spPr>
          <a:xfrm>
            <a:off x="7452360" y="5349240"/>
            <a:ext cx="4023360" cy="731520"/>
          </a:xfrm>
          <a:prstGeom prst="rect">
            <a:avLst/>
          </a:prstGeom>
          <a:noFill/>
        </p:spPr>
        <p:txBody>
          <a:bodyPr wrap="square" lIns="0" rIns="0" tIns="0" bIns="0" anchor="t">
            <a:spAutoFit/>
          </a:bodyPr>
          <a:lstStyle/>
          <a:p>
            <a:pPr algn="l">
              <a:spcAft>
                <a:spcPts val="0"/>
              </a:spcAft>
            </a:pPr>
            <a:r>
              <a:rPr sz="1400" b="0" i="0">
                <a:solidFill>
                  <a:srgbClr val="12263A"/>
                </a:solidFill>
                <a:latin typeface="Calibri"/>
              </a:rPr>
              <a:t>Vapour is still a continuum, at the edge of the slip regime, so Navier–Stokes applies (Re ≈ 13, laminar).</a:t>
            </a:r>
          </a:p>
        </p:txBody>
      </p:sp>
      <p:sp>
        <p:nvSpPr>
          <p:cNvPr id="13" name="TextBox 12"/>
          <p:cNvSpPr txBox="1"/>
          <p:nvPr/>
        </p:nvSpPr>
        <p:spPr>
          <a:xfrm>
            <a:off x="548640" y="6263640"/>
            <a:ext cx="10972800" cy="274320"/>
          </a:xfrm>
          <a:prstGeom prst="rect">
            <a:avLst/>
          </a:prstGeom>
          <a:noFill/>
        </p:spPr>
        <p:txBody>
          <a:bodyPr wrap="square" lIns="0" rIns="0" tIns="0" bIns="0" anchor="t">
            <a:spAutoFit/>
          </a:bodyPr>
          <a:lstStyle/>
          <a:p>
            <a:pPr algn="l">
              <a:spcAft>
                <a:spcPts val="0"/>
              </a:spcAft>
            </a:pPr>
            <a:r>
              <a:rPr sz="1100" b="0" i="0">
                <a:solidFill>
                  <a:srgbClr val="5A6A7A"/>
                </a:solidFill>
                <a:latin typeface="Calibri"/>
              </a:rPr>
              <a:t>Course links: Lecture 1 (square–cube law, Knudsen number). Water at 60 °C.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lIns="0" rIns="0" tIns="0" bIns="0" anchor="ctr">
            <a:spAutoFit/>
          </a:bodyPr>
          <a:lstStyle/>
          <a:p>
            <a:pPr algn="l">
              <a:spcAft>
                <a:spcPts val="0"/>
              </a:spcAft>
            </a:pPr>
            <a:r>
              <a:rPr sz="3400" b="1" i="0">
                <a:solidFill>
                  <a:srgbClr val="12263A"/>
                </a:solidFill>
                <a:latin typeface="Cambria"/>
              </a:rPr>
              <a:t>Heat moves as latent heat, not by conduction</a:t>
            </a:r>
          </a:p>
        </p:txBody>
      </p:sp>
      <p:sp>
        <p:nvSpPr>
          <p:cNvPr id="3" name="Figure card"/>
          <p:cNvSpPr/>
          <p:nvPr/>
        </p:nvSpPr>
        <p:spPr>
          <a:xfrm>
            <a:off x="548640" y="1371600"/>
            <a:ext cx="11109960" cy="324612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Vapour chamber schematic" descr="fig1_vapour_chamber_schematic.png"/>
          <p:cNvPicPr>
            <a:picLocks noChangeAspect="1"/>
          </p:cNvPicPr>
          <p:nvPr/>
        </p:nvPicPr>
        <p:blipFill>
          <a:blip r:embed="rId2"/>
          <a:stretch>
            <a:fillRect/>
          </a:stretch>
        </p:blipFill>
        <p:spPr>
          <a:xfrm>
            <a:off x="2650944" y="1463040"/>
            <a:ext cx="6905350" cy="3063240"/>
          </a:xfrm>
          <a:prstGeom prst="rect">
            <a:avLst/>
          </a:prstGeom>
        </p:spPr>
      </p:pic>
      <p:sp>
        <p:nvSpPr>
          <p:cNvPr id="5" name="Oval 4"/>
          <p:cNvSpPr/>
          <p:nvPr/>
        </p:nvSpPr>
        <p:spPr>
          <a:xfrm>
            <a:off x="548640" y="4892040"/>
            <a:ext cx="502920" cy="502920"/>
          </a:xfrm>
          <a:prstGeom prst="ellipse">
            <a:avLst/>
          </a:prstGeom>
          <a:solidFill>
            <a:srgbClr val="C869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6" name="TextBox 5"/>
          <p:cNvSpPr txBox="1"/>
          <p:nvPr/>
        </p:nvSpPr>
        <p:spPr>
          <a:xfrm>
            <a:off x="1207007" y="4846320"/>
            <a:ext cx="3017520" cy="365760"/>
          </a:xfrm>
          <a:prstGeom prst="rect">
            <a:avLst/>
          </a:prstGeom>
          <a:noFill/>
        </p:spPr>
        <p:txBody>
          <a:bodyPr wrap="square" lIns="0" rIns="0" tIns="0" bIns="0" anchor="t">
            <a:spAutoFit/>
          </a:bodyPr>
          <a:lstStyle/>
          <a:p>
            <a:pPr algn="l">
              <a:spcAft>
                <a:spcPts val="0"/>
              </a:spcAft>
            </a:pPr>
            <a:r>
              <a:rPr sz="1800" b="1" i="0">
                <a:solidFill>
                  <a:srgbClr val="C8693A"/>
                </a:solidFill>
                <a:latin typeface="Calibri"/>
              </a:rPr>
              <a:t>Evaporate</a:t>
            </a:r>
          </a:p>
        </p:txBody>
      </p:sp>
      <p:sp>
        <p:nvSpPr>
          <p:cNvPr id="7" name="TextBox 6"/>
          <p:cNvSpPr txBox="1"/>
          <p:nvPr/>
        </p:nvSpPr>
        <p:spPr>
          <a:xfrm>
            <a:off x="1207007" y="5257800"/>
            <a:ext cx="3017520" cy="822960"/>
          </a:xfrm>
          <a:prstGeom prst="rect">
            <a:avLst/>
          </a:prstGeom>
          <a:noFill/>
        </p:spPr>
        <p:txBody>
          <a:bodyPr wrap="square" lIns="0" rIns="0" tIns="0" bIns="0" anchor="t">
            <a:spAutoFit/>
          </a:bodyPr>
          <a:lstStyle/>
          <a:p>
            <a:pPr algn="l">
              <a:spcAft>
                <a:spcPts val="0"/>
              </a:spcAft>
            </a:pPr>
            <a:r>
              <a:rPr sz="1400" b="0" i="0">
                <a:solidFill>
                  <a:srgbClr val="12263A"/>
                </a:solidFill>
                <a:latin typeface="Calibri"/>
              </a:rPr>
              <a:t>Liquid at the chip boils off, absorbing latent heat</a:t>
            </a:r>
          </a:p>
        </p:txBody>
      </p:sp>
      <p:sp>
        <p:nvSpPr>
          <p:cNvPr id="8" name="Oval 7"/>
          <p:cNvSpPr/>
          <p:nvPr/>
        </p:nvSpPr>
        <p:spPr>
          <a:xfrm>
            <a:off x="4315968" y="4892040"/>
            <a:ext cx="502920" cy="502920"/>
          </a:xfrm>
          <a:prstGeom prst="ellipse">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9" name="TextBox 8"/>
          <p:cNvSpPr txBox="1"/>
          <p:nvPr/>
        </p:nvSpPr>
        <p:spPr>
          <a:xfrm>
            <a:off x="4974336" y="4846320"/>
            <a:ext cx="3017520" cy="365760"/>
          </a:xfrm>
          <a:prstGeom prst="rect">
            <a:avLst/>
          </a:prstGeom>
          <a:noFill/>
        </p:spPr>
        <p:txBody>
          <a:bodyPr wrap="square" lIns="0" rIns="0" tIns="0" bIns="0" anchor="t">
            <a:spAutoFit/>
          </a:bodyPr>
          <a:lstStyle/>
          <a:p>
            <a:pPr algn="l">
              <a:spcAft>
                <a:spcPts val="0"/>
              </a:spcAft>
            </a:pPr>
            <a:r>
              <a:rPr sz="1800" b="1" i="0">
                <a:solidFill>
                  <a:srgbClr val="1F8A8A"/>
                </a:solidFill>
                <a:latin typeface="Calibri"/>
              </a:rPr>
              <a:t>Flow</a:t>
            </a:r>
          </a:p>
        </p:txBody>
      </p:sp>
      <p:sp>
        <p:nvSpPr>
          <p:cNvPr id="10" name="TextBox 9"/>
          <p:cNvSpPr txBox="1"/>
          <p:nvPr/>
        </p:nvSpPr>
        <p:spPr>
          <a:xfrm>
            <a:off x="4974336" y="5257800"/>
            <a:ext cx="3017520" cy="822960"/>
          </a:xfrm>
          <a:prstGeom prst="rect">
            <a:avLst/>
          </a:prstGeom>
          <a:noFill/>
        </p:spPr>
        <p:txBody>
          <a:bodyPr wrap="square" lIns="0" rIns="0" tIns="0" bIns="0" anchor="t">
            <a:spAutoFit/>
          </a:bodyPr>
          <a:lstStyle/>
          <a:p>
            <a:pPr algn="l">
              <a:spcAft>
                <a:spcPts val="0"/>
              </a:spcAft>
            </a:pPr>
            <a:r>
              <a:rPr sz="1400" b="0" i="0">
                <a:solidFill>
                  <a:srgbClr val="12263A"/>
                </a:solidFill>
                <a:latin typeface="Calibri"/>
              </a:rPr>
              <a:t>Vapour rushes to the cooler region on a tiny pressure difference</a:t>
            </a:r>
          </a:p>
        </p:txBody>
      </p:sp>
      <p:sp>
        <p:nvSpPr>
          <p:cNvPr id="11" name="Oval 10"/>
          <p:cNvSpPr/>
          <p:nvPr/>
        </p:nvSpPr>
        <p:spPr>
          <a:xfrm>
            <a:off x="8083296" y="4892040"/>
            <a:ext cx="502920" cy="502920"/>
          </a:xfrm>
          <a:prstGeom prst="ellipse">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2" name="TextBox 11"/>
          <p:cNvSpPr txBox="1"/>
          <p:nvPr/>
        </p:nvSpPr>
        <p:spPr>
          <a:xfrm>
            <a:off x="8741664" y="4846320"/>
            <a:ext cx="3017520" cy="365760"/>
          </a:xfrm>
          <a:prstGeom prst="rect">
            <a:avLst/>
          </a:prstGeom>
          <a:noFill/>
        </p:spPr>
        <p:txBody>
          <a:bodyPr wrap="square" lIns="0" rIns="0" tIns="0" bIns="0" anchor="t">
            <a:spAutoFit/>
          </a:bodyPr>
          <a:lstStyle/>
          <a:p>
            <a:pPr algn="l">
              <a:spcAft>
                <a:spcPts val="0"/>
              </a:spcAft>
            </a:pPr>
            <a:r>
              <a:rPr sz="1800" b="1" i="0">
                <a:solidFill>
                  <a:srgbClr val="12263A"/>
                </a:solidFill>
                <a:latin typeface="Calibri"/>
              </a:rPr>
              <a:t>Condense and return</a:t>
            </a:r>
          </a:p>
        </p:txBody>
      </p:sp>
      <p:sp>
        <p:nvSpPr>
          <p:cNvPr id="13" name="TextBox 12"/>
          <p:cNvSpPr txBox="1"/>
          <p:nvPr/>
        </p:nvSpPr>
        <p:spPr>
          <a:xfrm>
            <a:off x="8741664" y="5257800"/>
            <a:ext cx="3017520" cy="822960"/>
          </a:xfrm>
          <a:prstGeom prst="rect">
            <a:avLst/>
          </a:prstGeom>
          <a:noFill/>
        </p:spPr>
        <p:txBody>
          <a:bodyPr wrap="square" lIns="0" rIns="0" tIns="0" bIns="0" anchor="t">
            <a:spAutoFit/>
          </a:bodyPr>
          <a:lstStyle/>
          <a:p>
            <a:pPr algn="l">
              <a:spcAft>
                <a:spcPts val="0"/>
              </a:spcAft>
            </a:pPr>
            <a:r>
              <a:rPr sz="1400" b="0" i="0">
                <a:solidFill>
                  <a:srgbClr val="12263A"/>
                </a:solidFill>
                <a:latin typeface="Calibri"/>
              </a:rPr>
              <a:t>Capillary pumping, ΔP = 2σcosθ / r, sends the liquid back</a:t>
            </a:r>
          </a:p>
        </p:txBody>
      </p:sp>
      <p:sp>
        <p:nvSpPr>
          <p:cNvPr id="14" name="TextBox 13"/>
          <p:cNvSpPr txBox="1"/>
          <p:nvPr/>
        </p:nvSpPr>
        <p:spPr>
          <a:xfrm>
            <a:off x="548640" y="6126480"/>
            <a:ext cx="11064240" cy="411480"/>
          </a:xfrm>
          <a:prstGeom prst="rect">
            <a:avLst/>
          </a:prstGeom>
          <a:noFill/>
        </p:spPr>
        <p:txBody>
          <a:bodyPr wrap="square" lIns="0" rIns="0" tIns="0" bIns="0" anchor="t">
            <a:spAutoFit/>
          </a:bodyPr>
          <a:lstStyle/>
          <a:p>
            <a:pPr algn="l">
              <a:spcAft>
                <a:spcPts val="0"/>
              </a:spcAft>
            </a:pPr>
            <a:r>
              <a:rPr sz="1500" b="1" i="0">
                <a:solidFill>
                  <a:srgbClr val="C8693A"/>
                </a:solidFill>
                <a:latin typeface="Calibri"/>
              </a:rPr>
              <a:t>5 W needs only ~2 mg/s of water</a:t>
            </a:r>
            <a:r>
              <a:rPr sz="1500" b="0" i="0">
                <a:solidFill>
                  <a:srgbClr val="12263A"/>
                </a:solidFill>
                <a:latin typeface="Calibri"/>
              </a:rPr>
              <a:t>, about 56× less mass flow than carrying it as sensible heat in water (10 K rise).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lIns="0" rIns="0" tIns="0" bIns="0" anchor="ctr">
            <a:spAutoFit/>
          </a:bodyPr>
          <a:lstStyle/>
          <a:p>
            <a:pPr algn="l">
              <a:spcAft>
                <a:spcPts val="0"/>
              </a:spcAft>
            </a:pPr>
            <a:r>
              <a:rPr sz="3400" b="1" i="0">
                <a:solidFill>
                  <a:srgbClr val="12263A"/>
                </a:solidFill>
                <a:latin typeface="Cambria"/>
              </a:rPr>
              <a:t>Two trade-offs decide the design</a:t>
            </a:r>
          </a:p>
        </p:txBody>
      </p:sp>
      <p:sp>
        <p:nvSpPr>
          <p:cNvPr id="3" name="Card"/>
          <p:cNvSpPr/>
          <p:nvPr/>
        </p:nvSpPr>
        <p:spPr>
          <a:xfrm>
            <a:off x="548640" y="1371600"/>
            <a:ext cx="5440680" cy="489204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lot" descr="fig3_wick_tradeoff.png"/>
          <p:cNvPicPr>
            <a:picLocks noChangeAspect="1"/>
          </p:cNvPicPr>
          <p:nvPr/>
        </p:nvPicPr>
        <p:blipFill>
          <a:blip r:embed="rId2"/>
          <a:stretch>
            <a:fillRect/>
          </a:stretch>
        </p:blipFill>
        <p:spPr>
          <a:xfrm>
            <a:off x="1003441" y="1463039"/>
            <a:ext cx="4531077" cy="2971800"/>
          </a:xfrm>
          <a:prstGeom prst="rect">
            <a:avLst/>
          </a:prstGeom>
        </p:spPr>
      </p:pic>
      <p:sp>
        <p:nvSpPr>
          <p:cNvPr id="5" name="TextBox 4"/>
          <p:cNvSpPr txBox="1"/>
          <p:nvPr/>
        </p:nvSpPr>
        <p:spPr>
          <a:xfrm>
            <a:off x="822959" y="4526280"/>
            <a:ext cx="4937760" cy="365760"/>
          </a:xfrm>
          <a:prstGeom prst="rect">
            <a:avLst/>
          </a:prstGeom>
          <a:noFill/>
        </p:spPr>
        <p:txBody>
          <a:bodyPr wrap="square" lIns="0" rIns="0" tIns="0" bIns="0" anchor="t">
            <a:spAutoFit/>
          </a:bodyPr>
          <a:lstStyle/>
          <a:p>
            <a:pPr algn="l">
              <a:spcAft>
                <a:spcPts val="0"/>
              </a:spcAft>
            </a:pPr>
            <a:r>
              <a:rPr sz="1800" b="1" i="0">
                <a:solidFill>
                  <a:srgbClr val="C8693A"/>
                </a:solidFill>
                <a:latin typeface="Calibri"/>
              </a:rPr>
              <a:t>Wick: pressure versus permeability</a:t>
            </a:r>
          </a:p>
        </p:txBody>
      </p:sp>
      <p:sp>
        <p:nvSpPr>
          <p:cNvPr id="6" name="TextBox 5"/>
          <p:cNvSpPr txBox="1"/>
          <p:nvPr/>
        </p:nvSpPr>
        <p:spPr>
          <a:xfrm>
            <a:off x="822959" y="4937760"/>
            <a:ext cx="4937760" cy="1280160"/>
          </a:xfrm>
          <a:prstGeom prst="rect">
            <a:avLst/>
          </a:prstGeom>
          <a:noFill/>
        </p:spPr>
        <p:txBody>
          <a:bodyPr wrap="square" lIns="0" rIns="0" tIns="0" bIns="0" anchor="t">
            <a:spAutoFit/>
          </a:bodyPr>
          <a:lstStyle/>
          <a:p>
            <a:pPr algn="l">
              <a:spcAft>
                <a:spcPts val="0"/>
              </a:spcAft>
            </a:pPr>
            <a:r>
              <a:rPr sz="1600" b="0" i="0">
                <a:solidFill>
                  <a:srgbClr val="12263A"/>
                </a:solidFill>
                <a:latin typeface="Calibri"/>
              </a:rPr>
              <a:t>Finer pores pump harder (∝ 1/r) but resist flow more (K ∝ r²). A 10 µm wick carries ~3 W and dries out at 5 W; 50 µm carries ~16 W.</a:t>
            </a:r>
          </a:p>
        </p:txBody>
      </p:sp>
      <p:sp>
        <p:nvSpPr>
          <p:cNvPr id="7" name="Card"/>
          <p:cNvSpPr/>
          <p:nvPr/>
        </p:nvSpPr>
        <p:spPr>
          <a:xfrm>
            <a:off x="6217920" y="1371600"/>
            <a:ext cx="5440680" cy="489204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lot" descr="fig4_vapour_core.png"/>
          <p:cNvPicPr>
            <a:picLocks noChangeAspect="1"/>
          </p:cNvPicPr>
          <p:nvPr/>
        </p:nvPicPr>
        <p:blipFill>
          <a:blip r:embed="rId3"/>
          <a:stretch>
            <a:fillRect/>
          </a:stretch>
        </p:blipFill>
        <p:spPr>
          <a:xfrm>
            <a:off x="6764443" y="1463039"/>
            <a:ext cx="4347633" cy="2971800"/>
          </a:xfrm>
          <a:prstGeom prst="rect">
            <a:avLst/>
          </a:prstGeom>
        </p:spPr>
      </p:pic>
      <p:sp>
        <p:nvSpPr>
          <p:cNvPr id="9" name="TextBox 8"/>
          <p:cNvSpPr txBox="1"/>
          <p:nvPr/>
        </p:nvSpPr>
        <p:spPr>
          <a:xfrm>
            <a:off x="6492240" y="4526280"/>
            <a:ext cx="4937760" cy="365760"/>
          </a:xfrm>
          <a:prstGeom prst="rect">
            <a:avLst/>
          </a:prstGeom>
          <a:noFill/>
        </p:spPr>
        <p:txBody>
          <a:bodyPr wrap="square" lIns="0" rIns="0" tIns="0" bIns="0" anchor="t">
            <a:spAutoFit/>
          </a:bodyPr>
          <a:lstStyle/>
          <a:p>
            <a:pPr algn="l">
              <a:spcAft>
                <a:spcPts val="0"/>
              </a:spcAft>
            </a:pPr>
            <a:r>
              <a:rPr sz="1800" b="1" i="0">
                <a:solidFill>
                  <a:srgbClr val="1F8A8A"/>
                </a:solidFill>
                <a:latin typeface="Calibri"/>
              </a:rPr>
              <a:t>Vapour core: thin means choked</a:t>
            </a:r>
          </a:p>
        </p:txBody>
      </p:sp>
      <p:sp>
        <p:nvSpPr>
          <p:cNvPr id="10" name="TextBox 9"/>
          <p:cNvSpPr txBox="1"/>
          <p:nvPr/>
        </p:nvSpPr>
        <p:spPr>
          <a:xfrm>
            <a:off x="6492240" y="4937760"/>
            <a:ext cx="4937760" cy="1280160"/>
          </a:xfrm>
          <a:prstGeom prst="rect">
            <a:avLst/>
          </a:prstGeom>
          <a:noFill/>
        </p:spPr>
        <p:txBody>
          <a:bodyPr wrap="square" lIns="0" rIns="0" tIns="0" bIns="0" anchor="t">
            <a:spAutoFit/>
          </a:bodyPr>
          <a:lstStyle/>
          <a:p>
            <a:pPr algn="l">
              <a:spcAft>
                <a:spcPts val="0"/>
              </a:spcAft>
            </a:pPr>
            <a:r>
              <a:rPr sz="1600" b="0" i="0">
                <a:solidFill>
                  <a:srgbClr val="12263A"/>
                </a:solidFill>
                <a:latin typeface="Calibri"/>
              </a:rPr>
              <a:t>Δp ∝ 1/h³ (Lecture 4). Halve the core from 0.2 to 0.1 mm and the temperature penalty jumps 8×, from 0.3 K to 2.6 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lIns="0" rIns="0" tIns="0" bIns="0" anchor="ctr">
            <a:spAutoFit/>
          </a:bodyPr>
          <a:lstStyle/>
          <a:p>
            <a:pPr algn="l">
              <a:spcAft>
                <a:spcPts val="0"/>
              </a:spcAft>
            </a:pPr>
            <a:r>
              <a:rPr sz="3400" b="1" i="0">
                <a:solidFill>
                  <a:srgbClr val="12263A"/>
                </a:solidFill>
                <a:latin typeface="Cambria"/>
              </a:rPr>
              <a:t>Making it thin, and keeping it alive</a:t>
            </a:r>
          </a:p>
        </p:txBody>
      </p:sp>
      <p:sp>
        <p:nvSpPr>
          <p:cNvPr id="3" name="Card"/>
          <p:cNvSpPr/>
          <p:nvPr/>
        </p:nvSpPr>
        <p:spPr>
          <a:xfrm>
            <a:off x="548640" y="1371600"/>
            <a:ext cx="5394960" cy="214884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08760"/>
            <a:ext cx="4937760" cy="365760"/>
          </a:xfrm>
          <a:prstGeom prst="rect">
            <a:avLst/>
          </a:prstGeom>
          <a:noFill/>
        </p:spPr>
        <p:txBody>
          <a:bodyPr wrap="square" lIns="0" rIns="0" tIns="0" bIns="0" anchor="t">
            <a:spAutoFit/>
          </a:bodyPr>
          <a:lstStyle/>
          <a:p>
            <a:pPr algn="l">
              <a:spcAft>
                <a:spcPts val="0"/>
              </a:spcAft>
            </a:pPr>
            <a:r>
              <a:rPr sz="1800" b="1" i="0">
                <a:solidFill>
                  <a:srgbClr val="12263A"/>
                </a:solidFill>
                <a:latin typeface="Calibri"/>
              </a:rPr>
              <a:t>Top-down (Lectures 2, 4)</a:t>
            </a:r>
          </a:p>
        </p:txBody>
      </p:sp>
      <p:sp>
        <p:nvSpPr>
          <p:cNvPr id="5" name="TextBox 4"/>
          <p:cNvSpPr txBox="1"/>
          <p:nvPr/>
        </p:nvSpPr>
        <p:spPr>
          <a:xfrm>
            <a:off x="777240" y="1965960"/>
            <a:ext cx="4937760" cy="1463040"/>
          </a:xfrm>
          <a:prstGeom prst="rect">
            <a:avLst/>
          </a:prstGeom>
          <a:noFill/>
        </p:spPr>
        <p:txBody>
          <a:bodyPr wrap="square" lIns="0" rIns="0" tIns="0" bIns="0" anchor="t">
            <a:spAutoFit/>
          </a:bodyPr>
          <a:lstStyle/>
          <a:p>
            <a:pPr algn="l">
              <a:spcAft>
                <a:spcPts val="800"/>
              </a:spcAft>
            </a:pPr>
            <a:r>
              <a:rPr sz="1700" b="0" i="0">
                <a:solidFill>
                  <a:srgbClr val="12263A"/>
                </a:solidFill>
                <a:latin typeface="Calibri"/>
              </a:rPr>
              <a:t>Etch grooves and channels (as in V-grooves in silicon); machine and diffusion-bond plates into a sealed envelope [11].</a:t>
            </a:r>
          </a:p>
          <a:p>
            <a:pPr algn="l">
              <a:spcAft>
                <a:spcPts val="800"/>
              </a:spcAft>
            </a:pPr>
            <a:r>
              <a:rPr sz="1700" b="1" i="0">
                <a:solidFill>
                  <a:srgbClr val="C8693A"/>
                </a:solidFill>
                <a:latin typeface="Calibri"/>
              </a:rPr>
              <a:t>Strength: precise, repeatable geometry.</a:t>
            </a:r>
          </a:p>
        </p:txBody>
      </p:sp>
      <p:sp>
        <p:nvSpPr>
          <p:cNvPr id="6" name="Card"/>
          <p:cNvSpPr/>
          <p:nvPr/>
        </p:nvSpPr>
        <p:spPr>
          <a:xfrm>
            <a:off x="548640" y="3703320"/>
            <a:ext cx="5394960" cy="214884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840480"/>
            <a:ext cx="4937760" cy="365760"/>
          </a:xfrm>
          <a:prstGeom prst="rect">
            <a:avLst/>
          </a:prstGeom>
          <a:noFill/>
        </p:spPr>
        <p:txBody>
          <a:bodyPr wrap="square" lIns="0" rIns="0" tIns="0" bIns="0" anchor="t">
            <a:spAutoFit/>
          </a:bodyPr>
          <a:lstStyle/>
          <a:p>
            <a:pPr algn="l">
              <a:spcAft>
                <a:spcPts val="0"/>
              </a:spcAft>
            </a:pPr>
            <a:r>
              <a:rPr sz="1800" b="1" i="0">
                <a:solidFill>
                  <a:srgbClr val="12263A"/>
                </a:solidFill>
                <a:latin typeface="Calibri"/>
              </a:rPr>
              <a:t>Bottom-up (Lecture 3)</a:t>
            </a:r>
          </a:p>
        </p:txBody>
      </p:sp>
      <p:sp>
        <p:nvSpPr>
          <p:cNvPr id="8" name="TextBox 7"/>
          <p:cNvSpPr txBox="1"/>
          <p:nvPr/>
        </p:nvSpPr>
        <p:spPr>
          <a:xfrm>
            <a:off x="777240" y="4297680"/>
            <a:ext cx="4937760" cy="1463040"/>
          </a:xfrm>
          <a:prstGeom prst="rect">
            <a:avLst/>
          </a:prstGeom>
          <a:noFill/>
        </p:spPr>
        <p:txBody>
          <a:bodyPr wrap="square" lIns="0" rIns="0" tIns="0" bIns="0" anchor="t">
            <a:spAutoFit/>
          </a:bodyPr>
          <a:lstStyle/>
          <a:p>
            <a:pPr algn="l">
              <a:spcAft>
                <a:spcPts val="800"/>
              </a:spcAft>
            </a:pPr>
            <a:r>
              <a:rPr sz="1700" b="0" i="0">
                <a:solidFill>
                  <a:srgbClr val="12263A"/>
                </a:solidFill>
                <a:latin typeface="Calibri"/>
              </a:rPr>
              <a:t>Sinter powder into porous wicks; grow nanostructured wick surfaces to raise the dry-out limit [7].</a:t>
            </a:r>
          </a:p>
          <a:p>
            <a:pPr algn="l">
              <a:spcAft>
                <a:spcPts val="800"/>
              </a:spcAft>
            </a:pPr>
            <a:r>
              <a:rPr sz="1700" b="1" i="0">
                <a:solidFill>
                  <a:srgbClr val="C8693A"/>
                </a:solidFill>
                <a:latin typeface="Calibri"/>
              </a:rPr>
              <a:t>Strength: fine pores, high capillary pressure.</a:t>
            </a:r>
          </a:p>
        </p:txBody>
      </p:sp>
      <p:sp>
        <p:nvSpPr>
          <p:cNvPr id="9" name="Limits card"/>
          <p:cNvSpPr/>
          <p:nvPr/>
        </p:nvSpPr>
        <p:spPr>
          <a:xfrm>
            <a:off x="6263640" y="1371600"/>
            <a:ext cx="5394960" cy="4480560"/>
          </a:xfrm>
          <a:prstGeom prst="roundRect">
            <a:avLst>
              <a:gd name="adj" fmla="val 6000"/>
            </a:avLst>
          </a:prstGeom>
          <a:solidFill>
            <a:srgbClr val="122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554480"/>
            <a:ext cx="4846320" cy="365760"/>
          </a:xfrm>
          <a:prstGeom prst="rect">
            <a:avLst/>
          </a:prstGeom>
          <a:noFill/>
        </p:spPr>
        <p:txBody>
          <a:bodyPr wrap="square" lIns="0" rIns="0" tIns="0" bIns="0" anchor="t">
            <a:spAutoFit/>
          </a:bodyPr>
          <a:lstStyle/>
          <a:p>
            <a:pPr algn="l">
              <a:spcAft>
                <a:spcPts val="0"/>
              </a:spcAft>
            </a:pPr>
            <a:r>
              <a:rPr sz="1800" b="1" i="0">
                <a:solidFill>
                  <a:srgbClr val="FFFFFF"/>
                </a:solidFill>
                <a:latin typeface="Calibri"/>
              </a:rPr>
              <a:t>What limits performance</a:t>
            </a:r>
          </a:p>
        </p:txBody>
      </p:sp>
      <p:sp>
        <p:nvSpPr>
          <p:cNvPr id="11" name="Oval 10"/>
          <p:cNvSpPr/>
          <p:nvPr/>
        </p:nvSpPr>
        <p:spPr>
          <a:xfrm>
            <a:off x="6537960" y="2185416"/>
            <a:ext cx="274320" cy="274320"/>
          </a:xfrm>
          <a:prstGeom prst="ellipse">
            <a:avLst/>
          </a:prstGeom>
          <a:solidFill>
            <a:srgbClr val="C869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12" name="TextBox 11"/>
          <p:cNvSpPr txBox="1"/>
          <p:nvPr/>
        </p:nvSpPr>
        <p:spPr>
          <a:xfrm>
            <a:off x="6995160" y="2148840"/>
            <a:ext cx="4480560" cy="731520"/>
          </a:xfrm>
          <a:prstGeom prst="rect">
            <a:avLst/>
          </a:prstGeom>
          <a:noFill/>
        </p:spPr>
        <p:txBody>
          <a:bodyPr wrap="square" lIns="0" rIns="0" tIns="0" bIns="0" anchor="t">
            <a:spAutoFit/>
          </a:bodyPr>
          <a:lstStyle/>
          <a:p>
            <a:pPr algn="l">
              <a:spcAft>
                <a:spcPts val="0"/>
              </a:spcAft>
            </a:pPr>
            <a:r>
              <a:rPr sz="1500" b="0" i="0">
                <a:solidFill>
                  <a:srgbClr val="FFFFFF"/>
                </a:solidFill>
                <a:latin typeface="Calibri"/>
              </a:rPr>
              <a:t>Capillary limit: wick cannot keep up</a:t>
            </a:r>
          </a:p>
        </p:txBody>
      </p:sp>
      <p:sp>
        <p:nvSpPr>
          <p:cNvPr id="13" name="Oval 12"/>
          <p:cNvSpPr/>
          <p:nvPr/>
        </p:nvSpPr>
        <p:spPr>
          <a:xfrm>
            <a:off x="6537960" y="2990088"/>
            <a:ext cx="274320" cy="274320"/>
          </a:xfrm>
          <a:prstGeom prst="ellipse">
            <a:avLst/>
          </a:prstGeom>
          <a:solidFill>
            <a:srgbClr val="C869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14" name="TextBox 13"/>
          <p:cNvSpPr txBox="1"/>
          <p:nvPr/>
        </p:nvSpPr>
        <p:spPr>
          <a:xfrm>
            <a:off x="6995160" y="2953512"/>
            <a:ext cx="4480560" cy="731520"/>
          </a:xfrm>
          <a:prstGeom prst="rect">
            <a:avLst/>
          </a:prstGeom>
          <a:noFill/>
        </p:spPr>
        <p:txBody>
          <a:bodyPr wrap="square" lIns="0" rIns="0" tIns="0" bIns="0" anchor="t">
            <a:spAutoFit/>
          </a:bodyPr>
          <a:lstStyle/>
          <a:p>
            <a:pPr algn="l">
              <a:spcAft>
                <a:spcPts val="0"/>
              </a:spcAft>
            </a:pPr>
            <a:r>
              <a:rPr sz="1500" b="0" i="0">
                <a:solidFill>
                  <a:srgbClr val="FFFFFF"/>
                </a:solidFill>
                <a:latin typeface="Calibri"/>
              </a:rPr>
              <a:t>Boiling and entrainment: dry-out [6, 7]</a:t>
            </a:r>
          </a:p>
        </p:txBody>
      </p:sp>
      <p:sp>
        <p:nvSpPr>
          <p:cNvPr id="15" name="Oval 14"/>
          <p:cNvSpPr/>
          <p:nvPr/>
        </p:nvSpPr>
        <p:spPr>
          <a:xfrm>
            <a:off x="6537960" y="3794760"/>
            <a:ext cx="274320" cy="274320"/>
          </a:xfrm>
          <a:prstGeom prst="ellipse">
            <a:avLst/>
          </a:prstGeom>
          <a:solidFill>
            <a:srgbClr val="C869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16" name="TextBox 15"/>
          <p:cNvSpPr txBox="1"/>
          <p:nvPr/>
        </p:nvSpPr>
        <p:spPr>
          <a:xfrm>
            <a:off x="6995160" y="3758184"/>
            <a:ext cx="4480560" cy="731520"/>
          </a:xfrm>
          <a:prstGeom prst="rect">
            <a:avLst/>
          </a:prstGeom>
          <a:noFill/>
        </p:spPr>
        <p:txBody>
          <a:bodyPr wrap="square" lIns="0" rIns="0" tIns="0" bIns="0" anchor="t">
            <a:spAutoFit/>
          </a:bodyPr>
          <a:lstStyle/>
          <a:p>
            <a:pPr algn="l">
              <a:spcAft>
                <a:spcPts val="0"/>
              </a:spcAft>
            </a:pPr>
            <a:r>
              <a:rPr sz="1500" b="0" i="0">
                <a:solidFill>
                  <a:srgbClr val="FFFFFF"/>
                </a:solidFill>
                <a:latin typeface="Calibri"/>
              </a:rPr>
              <a:t>Vapour choking in very thin cores</a:t>
            </a:r>
          </a:p>
        </p:txBody>
      </p:sp>
      <p:sp>
        <p:nvSpPr>
          <p:cNvPr id="17" name="Oval 16"/>
          <p:cNvSpPr/>
          <p:nvPr/>
        </p:nvSpPr>
        <p:spPr>
          <a:xfrm>
            <a:off x="6537960" y="4599432"/>
            <a:ext cx="274320" cy="274320"/>
          </a:xfrm>
          <a:prstGeom prst="ellipse">
            <a:avLst/>
          </a:prstGeom>
          <a:solidFill>
            <a:srgbClr val="C869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18" name="TextBox 17"/>
          <p:cNvSpPr txBox="1"/>
          <p:nvPr/>
        </p:nvSpPr>
        <p:spPr>
          <a:xfrm>
            <a:off x="6995160" y="4562856"/>
            <a:ext cx="4480560" cy="731520"/>
          </a:xfrm>
          <a:prstGeom prst="rect">
            <a:avLst/>
          </a:prstGeom>
          <a:noFill/>
        </p:spPr>
        <p:txBody>
          <a:bodyPr wrap="square" lIns="0" rIns="0" tIns="0" bIns="0" anchor="t">
            <a:spAutoFit/>
          </a:bodyPr>
          <a:lstStyle/>
          <a:p>
            <a:pPr algn="l">
              <a:spcAft>
                <a:spcPts val="0"/>
              </a:spcAft>
            </a:pPr>
            <a:r>
              <a:rPr sz="1500" b="0" i="0">
                <a:solidFill>
                  <a:srgbClr val="FFFFFF"/>
                </a:solidFill>
                <a:latin typeface="Calibri"/>
              </a:rPr>
              <a:t>Corrosion and fouling: a 100 µm layer is fatal in a microchannel (Lecture 4)</a:t>
            </a:r>
          </a:p>
        </p:txBody>
      </p:sp>
      <p:sp>
        <p:nvSpPr>
          <p:cNvPr id="19" name="Callout"/>
          <p:cNvSpPr/>
          <p:nvPr/>
        </p:nvSpPr>
        <p:spPr>
          <a:xfrm>
            <a:off x="548640" y="5989320"/>
            <a:ext cx="11109960" cy="640080"/>
          </a:xfrm>
          <a:prstGeom prst="roundRect">
            <a:avLst>
              <a:gd name="adj" fmla="val 6000"/>
            </a:avLst>
          </a:prstGeom>
          <a:solidFill>
            <a:srgbClr val="C86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989320"/>
            <a:ext cx="10698480" cy="640080"/>
          </a:xfrm>
          <a:prstGeom prst="rect">
            <a:avLst/>
          </a:prstGeom>
          <a:noFill/>
        </p:spPr>
        <p:txBody>
          <a:bodyPr wrap="square" lIns="0" rIns="0" tIns="0" bIns="0" anchor="ctr">
            <a:spAutoFit/>
          </a:bodyPr>
          <a:lstStyle/>
          <a:p>
            <a:pPr algn="l">
              <a:spcAft>
                <a:spcPts val="0"/>
              </a:spcAft>
            </a:pPr>
            <a:r>
              <a:rPr sz="1600" b="1" i="0">
                <a:solidFill>
                  <a:srgbClr val="FFFFFF"/>
                </a:solidFill>
                <a:latin typeface="Calibri"/>
              </a:rPr>
              <a:t>Design win: a biporous condenser-side wick cut the peak-to-mean skin temperature difference by 37%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263A"/>
        </a:solidFill>
        <a:effectLst/>
      </p:bgPr>
    </p:bg>
    <p:spTree>
      <p:nvGrpSpPr>
        <p:cNvPr id="1" name=""/>
        <p:cNvGrpSpPr/>
        <p:nvPr/>
      </p:nvGrpSpPr>
      <p:grpSpPr/>
      <p:sp>
        <p:nvSpPr>
          <p:cNvPr id="2" name="Title"/>
          <p:cNvSpPr txBox="1"/>
          <p:nvPr/>
        </p:nvSpPr>
        <p:spPr>
          <a:xfrm>
            <a:off x="548640" y="411480"/>
            <a:ext cx="11064240" cy="822960"/>
          </a:xfrm>
          <a:prstGeom prst="rect">
            <a:avLst/>
          </a:prstGeom>
          <a:noFill/>
        </p:spPr>
        <p:txBody>
          <a:bodyPr wrap="square" lIns="0" rIns="0" tIns="0" bIns="0" anchor="ctr">
            <a:spAutoFit/>
          </a:bodyPr>
          <a:lstStyle/>
          <a:p>
            <a:pPr algn="l">
              <a:spcAft>
                <a:spcPts val="0"/>
              </a:spcAft>
            </a:pPr>
            <a:r>
              <a:rPr sz="3400" b="1" i="0">
                <a:solidFill>
                  <a:srgbClr val="FFFFFF"/>
                </a:solidFill>
                <a:latin typeface="Cambria"/>
              </a:rPr>
              <a:t>Takeaways</a:t>
            </a:r>
          </a:p>
        </p:txBody>
      </p:sp>
      <p:sp>
        <p:nvSpPr>
          <p:cNvPr id="3" name="Oval 2"/>
          <p:cNvSpPr/>
          <p:nvPr/>
        </p:nvSpPr>
        <p:spPr>
          <a:xfrm>
            <a:off x="640080" y="1508760"/>
            <a:ext cx="640080" cy="640080"/>
          </a:xfrm>
          <a:prstGeom prst="ellipse">
            <a:avLst/>
          </a:prstGeom>
          <a:solidFill>
            <a:srgbClr val="C869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4" name="TextBox 3"/>
          <p:cNvSpPr txBox="1"/>
          <p:nvPr/>
        </p:nvSpPr>
        <p:spPr>
          <a:xfrm>
            <a:off x="1554480" y="1463040"/>
            <a:ext cx="9601200" cy="457200"/>
          </a:xfrm>
          <a:prstGeom prst="rect">
            <a:avLst/>
          </a:prstGeom>
          <a:noFill/>
        </p:spPr>
        <p:txBody>
          <a:bodyPr wrap="square" lIns="0" rIns="0" tIns="0" bIns="0" anchor="t">
            <a:spAutoFit/>
          </a:bodyPr>
          <a:lstStyle/>
          <a:p>
            <a:pPr algn="l">
              <a:spcAft>
                <a:spcPts val="0"/>
              </a:spcAft>
            </a:pPr>
            <a:r>
              <a:rPr sz="2400" b="1" i="0">
                <a:solidFill>
                  <a:srgbClr val="FFFFFF"/>
                </a:solidFill>
                <a:latin typeface="Cambria"/>
              </a:rPr>
              <a:t>Surface tension is the engine</a:t>
            </a:r>
          </a:p>
        </p:txBody>
      </p:sp>
      <p:sp>
        <p:nvSpPr>
          <p:cNvPr id="5" name="TextBox 4"/>
          <p:cNvSpPr txBox="1"/>
          <p:nvPr/>
        </p:nvSpPr>
        <p:spPr>
          <a:xfrm>
            <a:off x="1554480" y="1965960"/>
            <a:ext cx="9601200" cy="457200"/>
          </a:xfrm>
          <a:prstGeom prst="rect">
            <a:avLst/>
          </a:prstGeom>
          <a:noFill/>
        </p:spPr>
        <p:txBody>
          <a:bodyPr wrap="square" lIns="0" rIns="0" tIns="0" bIns="0" anchor="t">
            <a:spAutoFit/>
          </a:bodyPr>
          <a:lstStyle/>
          <a:p>
            <a:pPr algn="l">
              <a:spcAft>
                <a:spcPts val="0"/>
              </a:spcAft>
            </a:pPr>
            <a:r>
              <a:rPr sz="1700" b="0" i="0">
                <a:solidFill>
                  <a:srgbClr val="BFD3E3"/>
                </a:solidFill>
                <a:latin typeface="Calibri"/>
              </a:rPr>
              <a:t>At Bo ≈ 10⁻³ capillary pumping works in any orientation.</a:t>
            </a:r>
          </a:p>
        </p:txBody>
      </p:sp>
      <p:sp>
        <p:nvSpPr>
          <p:cNvPr id="6" name="Oval 5"/>
          <p:cNvSpPr/>
          <p:nvPr/>
        </p:nvSpPr>
        <p:spPr>
          <a:xfrm>
            <a:off x="640080" y="2743200"/>
            <a:ext cx="640080" cy="640080"/>
          </a:xfrm>
          <a:prstGeom prst="ellipse">
            <a:avLst/>
          </a:prstGeom>
          <a:solidFill>
            <a:srgbClr val="C869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7" name="TextBox 6"/>
          <p:cNvSpPr txBox="1"/>
          <p:nvPr/>
        </p:nvSpPr>
        <p:spPr>
          <a:xfrm>
            <a:off x="1554480" y="2697480"/>
            <a:ext cx="9601200" cy="457200"/>
          </a:xfrm>
          <a:prstGeom prst="rect">
            <a:avLst/>
          </a:prstGeom>
          <a:noFill/>
        </p:spPr>
        <p:txBody>
          <a:bodyPr wrap="square" lIns="0" rIns="0" tIns="0" bIns="0" anchor="t">
            <a:spAutoFit/>
          </a:bodyPr>
          <a:lstStyle/>
          <a:p>
            <a:pPr algn="l">
              <a:spcAft>
                <a:spcPts val="0"/>
              </a:spcAft>
            </a:pPr>
            <a:r>
              <a:rPr sz="2400" b="1" i="0">
                <a:solidFill>
                  <a:srgbClr val="FFFFFF"/>
                </a:solidFill>
                <a:latin typeface="Cambria"/>
              </a:rPr>
              <a:t>Latent heat is the payload</a:t>
            </a:r>
          </a:p>
        </p:txBody>
      </p:sp>
      <p:sp>
        <p:nvSpPr>
          <p:cNvPr id="8" name="TextBox 7"/>
          <p:cNvSpPr txBox="1"/>
          <p:nvPr/>
        </p:nvSpPr>
        <p:spPr>
          <a:xfrm>
            <a:off x="1554480" y="3200400"/>
            <a:ext cx="9601200" cy="457200"/>
          </a:xfrm>
          <a:prstGeom prst="rect">
            <a:avLst/>
          </a:prstGeom>
          <a:noFill/>
        </p:spPr>
        <p:txBody>
          <a:bodyPr wrap="square" lIns="0" rIns="0" tIns="0" bIns="0" anchor="t">
            <a:spAutoFit/>
          </a:bodyPr>
          <a:lstStyle/>
          <a:p>
            <a:pPr algn="l">
              <a:spcAft>
                <a:spcPts val="0"/>
              </a:spcAft>
            </a:pPr>
            <a:r>
              <a:rPr sz="1700" b="0" i="0">
                <a:solidFill>
                  <a:srgbClr val="BFD3E3"/>
                </a:solidFill>
                <a:latin typeface="Calibri"/>
              </a:rPr>
              <a:t>Almost isothermal spreading with milligrams of fluid.</a:t>
            </a:r>
          </a:p>
        </p:txBody>
      </p:sp>
      <p:sp>
        <p:nvSpPr>
          <p:cNvPr id="9" name="Oval 8"/>
          <p:cNvSpPr/>
          <p:nvPr/>
        </p:nvSpPr>
        <p:spPr>
          <a:xfrm>
            <a:off x="640080" y="3977640"/>
            <a:ext cx="640080" cy="640080"/>
          </a:xfrm>
          <a:prstGeom prst="ellipse">
            <a:avLst/>
          </a:prstGeom>
          <a:solidFill>
            <a:srgbClr val="C869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0" name="TextBox 9"/>
          <p:cNvSpPr txBox="1"/>
          <p:nvPr/>
        </p:nvSpPr>
        <p:spPr>
          <a:xfrm>
            <a:off x="1554480" y="3931920"/>
            <a:ext cx="9601200" cy="457200"/>
          </a:xfrm>
          <a:prstGeom prst="rect">
            <a:avLst/>
          </a:prstGeom>
          <a:noFill/>
        </p:spPr>
        <p:txBody>
          <a:bodyPr wrap="square" lIns="0" rIns="0" tIns="0" bIns="0" anchor="t">
            <a:spAutoFit/>
          </a:bodyPr>
          <a:lstStyle/>
          <a:p>
            <a:pPr algn="l">
              <a:spcAft>
                <a:spcPts val="0"/>
              </a:spcAft>
            </a:pPr>
            <a:r>
              <a:rPr sz="2400" b="1" i="0">
                <a:solidFill>
                  <a:srgbClr val="FFFFFF"/>
                </a:solidFill>
                <a:latin typeface="Cambria"/>
              </a:rPr>
              <a:t>Thin is the hard part</a:t>
            </a:r>
          </a:p>
        </p:txBody>
      </p:sp>
      <p:sp>
        <p:nvSpPr>
          <p:cNvPr id="11" name="TextBox 10"/>
          <p:cNvSpPr txBox="1"/>
          <p:nvPr/>
        </p:nvSpPr>
        <p:spPr>
          <a:xfrm>
            <a:off x="1554480" y="4434840"/>
            <a:ext cx="9601200" cy="457200"/>
          </a:xfrm>
          <a:prstGeom prst="rect">
            <a:avLst/>
          </a:prstGeom>
          <a:noFill/>
        </p:spPr>
        <p:txBody>
          <a:bodyPr wrap="square" lIns="0" rIns="0" tIns="0" bIns="0" anchor="t">
            <a:spAutoFit/>
          </a:bodyPr>
          <a:lstStyle/>
          <a:p>
            <a:pPr algn="l">
              <a:spcAft>
                <a:spcPts val="0"/>
              </a:spcAft>
            </a:pPr>
            <a:r>
              <a:rPr sz="1700" b="0" i="0">
                <a:solidFill>
                  <a:srgbClr val="BFD3E3"/>
                </a:solidFill>
                <a:latin typeface="Calibri"/>
              </a:rPr>
              <a:t>Wick pressure versus permeability, and Δp ∝ 1/h³ in the vapour core.</a:t>
            </a:r>
          </a:p>
        </p:txBody>
      </p:sp>
      <p:sp>
        <p:nvSpPr>
          <p:cNvPr id="12" name="TextBox 11"/>
          <p:cNvSpPr txBox="1"/>
          <p:nvPr/>
        </p:nvSpPr>
        <p:spPr>
          <a:xfrm>
            <a:off x="640080" y="5074920"/>
            <a:ext cx="10972800" cy="1554480"/>
          </a:xfrm>
          <a:prstGeom prst="rect">
            <a:avLst/>
          </a:prstGeom>
          <a:noFill/>
        </p:spPr>
        <p:txBody>
          <a:bodyPr wrap="square" lIns="0" rIns="0" tIns="0" bIns="0" anchor="t">
            <a:spAutoFit/>
          </a:bodyPr>
          <a:lstStyle/>
          <a:p>
            <a:pPr algn="l">
              <a:spcAft>
                <a:spcPts val="400"/>
              </a:spcAft>
            </a:pPr>
            <a:r>
              <a:rPr sz="1100" b="0" i="0">
                <a:solidFill>
                  <a:srgbClr val="BFD3E3"/>
                </a:solidFill>
                <a:latin typeface="Calibri"/>
              </a:rPr>
              <a:t>Sources: [1] Course notes, Lectures 1–4  ·  [2] Yan et al., Appl. Therm. Eng. 2023  ·  [3] Bhat et al., DATE 2019  ·  [4] Garimella et al., IEEE TCPT 2008  ·  [5] Tuckerman &amp; Pease, 1981  ·  [6] Faghri, J. Heat Transfer 2012  ·  [7] Weibel &amp; Garimella, 2013  ·  [8] Bulut et al., 2019  ·  [9] Zhou et al., IJHMT 2023  ·  [10] Duan et al., Materials 2022  ·  [11] Filippou et al., 2024  ·  [12] Peterson &amp; Ma, 1996  ·  [13] Vasiliev, 2008  ·  [14] Hanlon &amp; Ma, 2003  ·  [15] Weibel et al., 2010  ·  [16] Patankar et al., 2016</a:t>
            </a:r>
          </a:p>
          <a:p>
            <a:pPr algn="l">
              <a:spcAft>
                <a:spcPts val="400"/>
              </a:spcAft>
            </a:pPr>
            <a:r>
              <a:rPr sz="1100" b="0" i="0">
                <a:solidFill>
                  <a:srgbClr val="BFD3E3"/>
                </a:solidFill>
                <a:latin typeface="Calibri"/>
              </a:rPr>
              <a:t>Full references with DOI links are in the term paper (References and Appendix 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
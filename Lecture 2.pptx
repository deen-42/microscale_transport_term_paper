
<file path=[Content_Types].xml><?xml version="1.0" encoding="utf-8"?>
<Types xmlns="http://schemas.openxmlformats.org/package/2006/content-types">
  <Default Extension="rels" ContentType="application/vnd.openxmlformats-package.relationships+xml"/>
  <Default Extension="jpeg" ContentType="image/jpeg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62" r:id="rId9"/>
    <p:sldId id="267" r:id="rId10"/>
    <p:sldId id="268" r:id="rId11"/>
    <p:sldId id="269" r:id="rId12"/>
    <p:sldId id="275" r:id="rId13"/>
    <p:sldId id="272" r:id="rId14"/>
    <p:sldId id="280" r:id="rId15"/>
    <p:sldId id="270" r:id="rId16"/>
    <p:sldId id="273" r:id="rId17"/>
    <p:sldId id="274" r:id="rId18"/>
    <p:sldId id="276" r:id="rId19"/>
    <p:sldId id="281" r:id="rId20"/>
    <p:sldId id="277" r:id="rId21"/>
    <p:sldId id="278" r:id="rId22"/>
    <p:sldId id="282" r:id="rId23"/>
    <p:sldId id="283" r:id="rId24"/>
    <p:sldId id="285" r:id="rId25"/>
    <p:sldId id="284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5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A67C-7E21-44CD-A624-4FF9AC67939E}" type="datetimeFigureOut">
              <a:rPr lang="en-US" smtClean="0"/>
              <a:pPr/>
              <a:t>8/9/2011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C4312-054F-4C98-8390-728E57201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A67C-7E21-44CD-A624-4FF9AC67939E}" type="datetimeFigureOut">
              <a:rPr lang="en-US" smtClean="0"/>
              <a:pPr/>
              <a:t>8/9/2011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C4312-054F-4C98-8390-728E57201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A67C-7E21-44CD-A624-4FF9AC67939E}" type="datetimeFigureOut">
              <a:rPr lang="en-US" smtClean="0"/>
              <a:pPr/>
              <a:t>8/9/2011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C4312-054F-4C98-8390-728E57201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A67C-7E21-44CD-A624-4FF9AC67939E}" type="datetimeFigureOut">
              <a:rPr lang="en-US" smtClean="0"/>
              <a:pPr/>
              <a:t>8/9/2011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C4312-054F-4C98-8390-728E57201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A67C-7E21-44CD-A624-4FF9AC67939E}" type="datetimeFigureOut">
              <a:rPr lang="en-US" smtClean="0"/>
              <a:pPr/>
              <a:t>8/9/2011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C4312-054F-4C98-8390-728E57201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A67C-7E21-44CD-A624-4FF9AC67939E}" type="datetimeFigureOut">
              <a:rPr lang="en-US" smtClean="0"/>
              <a:pPr/>
              <a:t>8/9/2011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C4312-054F-4C98-8390-728E57201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A67C-7E21-44CD-A624-4FF9AC67939E}" type="datetimeFigureOut">
              <a:rPr lang="en-US" smtClean="0"/>
              <a:pPr/>
              <a:t>8/9/2011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C4312-054F-4C98-8390-728E57201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A67C-7E21-44CD-A624-4FF9AC67939E}" type="datetimeFigureOut">
              <a:rPr lang="en-US" smtClean="0"/>
              <a:pPr/>
              <a:t>8/9/2011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C4312-054F-4C98-8390-728E57201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A67C-7E21-44CD-A624-4FF9AC67939E}" type="datetimeFigureOut">
              <a:rPr lang="en-US" smtClean="0"/>
              <a:pPr/>
              <a:t>8/9/2011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C4312-054F-4C98-8390-728E57201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A67C-7E21-44CD-A624-4FF9AC67939E}" type="datetimeFigureOut">
              <a:rPr lang="en-US" smtClean="0"/>
              <a:pPr/>
              <a:t>8/9/2011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C4312-054F-4C98-8390-728E57201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A67C-7E21-44CD-A624-4FF9AC67939E}" type="datetimeFigureOut">
              <a:rPr lang="en-US" smtClean="0"/>
              <a:pPr/>
              <a:t>8/9/2011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C4312-054F-4C98-8390-728E57201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EA67C-7E21-44CD-A624-4FF9AC67939E}" type="datetimeFigureOut">
              <a:rPr lang="en-US" smtClean="0"/>
              <a:pPr/>
              <a:t>8/9/2011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C4312-054F-4C98-8390-728E57201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152400"/>
            <a:ext cx="8229600" cy="487362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Microfabrication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609600"/>
            <a:ext cx="8229600" cy="60198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Fabrication accuracy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City (10 km)---House(10 m)----Optical fiber (1 mm)----Bacteria(1µm)----Virus(0.01µm)---1A°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Traditional mechanical machining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Object of size 1mm to 50 cm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Precision of the order of 10 µm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Special mechanical machining</a:t>
            </a:r>
            <a:endParaRPr kumimoji="0" lang="en-US" sz="2800" b="0" i="0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Displacement precision ~ 1 nm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en-US" sz="2000" dirty="0" smtClean="0"/>
              <a:t>Angular precision ~ (10</a:t>
            </a:r>
            <a:r>
              <a:rPr lang="en-US" sz="2000" baseline="30000" dirty="0" smtClean="0"/>
              <a:t>-5</a:t>
            </a:r>
            <a:r>
              <a:rPr lang="en-US" sz="2000" dirty="0" smtClean="0"/>
              <a:t>)°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Applicable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for metal alone. Not for glass, </a:t>
            </a:r>
            <a:r>
              <a:rPr kumimoji="0" lang="en-US" sz="2000" b="0" i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teflon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or plastic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en-US" sz="2000" baseline="0" dirty="0" smtClean="0"/>
              <a:t>Price tag</a:t>
            </a:r>
            <a:endParaRPr lang="en-IN" sz="3200" dirty="0"/>
          </a:p>
          <a:p>
            <a:pPr marL="342900" indent="-342900">
              <a:spcBef>
                <a:spcPct val="20000"/>
              </a:spcBef>
            </a:pPr>
            <a:r>
              <a:rPr lang="en-IN" sz="2800" baseline="0" dirty="0" smtClean="0"/>
              <a:t>Etching / lithography / deposition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en-IN" sz="2400" dirty="0" smtClean="0"/>
              <a:t>Range 0.2 </a:t>
            </a:r>
            <a:r>
              <a:rPr lang="en-US" sz="2400" dirty="0"/>
              <a:t>µm </a:t>
            </a:r>
            <a:r>
              <a:rPr lang="en-IN" sz="2400" dirty="0" smtClean="0"/>
              <a:t>to 500 </a:t>
            </a:r>
            <a:r>
              <a:rPr lang="en-US" sz="2400" dirty="0" smtClean="0"/>
              <a:t>µm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en-US" sz="2400" baseline="0" dirty="0" smtClean="0"/>
              <a:t>Use glass or silicon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Microfabrication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  …..contd.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1142984"/>
            <a:ext cx="8229600" cy="4983179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Plastic MEMS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Range 0.5 </a:t>
            </a:r>
            <a:r>
              <a:rPr lang="en-US" dirty="0" smtClean="0"/>
              <a:t>µm to 500 µm.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 smtClean="0"/>
              <a:t>Use </a:t>
            </a:r>
            <a:r>
              <a:rPr lang="en-US" dirty="0" err="1" smtClean="0"/>
              <a:t>elastomers</a:t>
            </a:r>
            <a:r>
              <a:rPr lang="en-US" dirty="0" smtClean="0"/>
              <a:t> such as PDMS (</a:t>
            </a:r>
            <a:r>
              <a:rPr lang="en-US" dirty="0" err="1" smtClean="0"/>
              <a:t>polydimethyl</a:t>
            </a:r>
            <a:r>
              <a:rPr lang="en-US" dirty="0" smtClean="0"/>
              <a:t> </a:t>
            </a:r>
            <a:r>
              <a:rPr lang="en-US" dirty="0" err="1" smtClean="0"/>
              <a:t>siloxane</a:t>
            </a:r>
            <a:r>
              <a:rPr lang="en-US" dirty="0" smtClean="0"/>
              <a:t>) or PMMA (</a:t>
            </a:r>
            <a:r>
              <a:rPr lang="en-US" dirty="0" err="1" smtClean="0"/>
              <a:t>polymethyl</a:t>
            </a:r>
            <a:r>
              <a:rPr lang="en-US" dirty="0" smtClean="0"/>
              <a:t> </a:t>
            </a:r>
            <a:r>
              <a:rPr lang="en-US" dirty="0" err="1" smtClean="0"/>
              <a:t>methacrylate</a:t>
            </a:r>
            <a:r>
              <a:rPr lang="en-US" dirty="0" smtClean="0"/>
              <a:t>).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 smtClean="0"/>
              <a:t>Channels can be made by either direct method (laser ablation) or replication method (use of mold).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 smtClean="0"/>
              <a:t>By weight, plastics are 100 times less expensive than silicon, and can be made disposable.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 smtClean="0"/>
              <a:t>Rapid prototyping.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 smtClean="0"/>
              <a:t>Surface effects, transparency, diversity of materials can be introduced easily.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dirty="0" smtClean="0"/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en-IN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 smtClean="0">
                <a:latin typeface="+mj-lt"/>
                <a:ea typeface="+mj-ea"/>
                <a:cs typeface="+mj-cs"/>
              </a:rPr>
              <a:t>Clean Room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1142984"/>
            <a:ext cx="8229600" cy="4983179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 smtClean="0"/>
              <a:t>Temperature regulated at 20°C.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 smtClean="0"/>
              <a:t>Humidity regulated and traversed by flux of filtered air.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 smtClean="0"/>
              <a:t>Number of particles of size &lt; 4 µm per cubic inch defines a clean room.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 smtClean="0"/>
              <a:t>For fabrication of microprocessor, a number ≤ 10 is suggested.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 smtClean="0"/>
              <a:t>For MEMS </a:t>
            </a:r>
            <a:r>
              <a:rPr lang="en-US" sz="2000" dirty="0" err="1" smtClean="0"/>
              <a:t>microfabrication</a:t>
            </a:r>
            <a:r>
              <a:rPr lang="en-US" sz="2000" dirty="0" smtClean="0"/>
              <a:t>, a number ≤  10,000 is suggested.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 smtClean="0"/>
              <a:t>Wearing hair-cover, shoe-cover, gloves required in the second case also.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en-IN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Photolithography</a:t>
            </a:r>
            <a:r>
              <a:rPr kumimoji="0" lang="en-US" sz="44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 mask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990600"/>
            <a:ext cx="8229600" cy="51355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dirty="0" smtClean="0"/>
              <a:t>Protects certain part of a resist from illumination (spectral band 300 nm to 450 nm).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Plates of quartz on which deposits of chrome</a:t>
            </a:r>
            <a:r>
              <a:rPr kumimoji="0" lang="en-IN" sz="24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forms a pattern.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baseline="0" dirty="0" smtClean="0"/>
              <a:t>Deposition</a:t>
            </a:r>
            <a:r>
              <a:rPr lang="en-IN" sz="2400" dirty="0" smtClean="0"/>
              <a:t> is made using electron beams.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IN" sz="24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less-precise one can be just a print-out on plastic transparency sheet.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 smtClean="0">
                <a:latin typeface="+mj-lt"/>
                <a:ea typeface="+mj-ea"/>
                <a:cs typeface="+mj-cs"/>
              </a:rPr>
              <a:t>Photosensitive resist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990600"/>
            <a:ext cx="8229600" cy="51355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dirty="0" smtClean="0"/>
              <a:t>Mask is placed on top of a substrate, covered by photosensitive polymer.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Substrate is put under uniform beam.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dirty="0" smtClean="0"/>
              <a:t>The regions appear on the polymer as lit or dark as per the pattern that had been designed on the mask (pattern transfer step).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dirty="0" smtClean="0"/>
              <a:t>Light sets changes in photosensitive polymer and make the polymer soluble to certain solvent. Upon dipping in the solvent, the polymer in the lit portion is dissolved.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dirty="0" smtClean="0"/>
              <a:t>The exposed portions of the substrate undergo chemical attack from the etching fluid.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dirty="0" smtClean="0"/>
              <a:t> Depending on the time over which the substrate is kept in etching fluid, the exposed portions are etched to a depth. 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 smtClean="0">
                <a:latin typeface="+mj-lt"/>
                <a:ea typeface="+mj-ea"/>
                <a:cs typeface="+mj-cs"/>
              </a:rPr>
              <a:t>Spin Coating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990600"/>
            <a:ext cx="8229600" cy="51355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Photosensitive polymer is deposited in a thin layer on a solid substrate</a:t>
            </a:r>
            <a:r>
              <a:rPr kumimoji="0" lang="en-IN" sz="24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of silicon or glass.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baseline="0" dirty="0" smtClean="0"/>
              <a:t>Three</a:t>
            </a:r>
            <a:r>
              <a:rPr lang="en-IN" sz="2400" dirty="0" smtClean="0"/>
              <a:t> stages of the coating process are Distribution, Spreading, Evaporation, Solidification.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Use of vacuum to hold the wafer.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dirty="0" smtClean="0"/>
              <a:t>Equilibrium thickness: The thickness achieved after spinning for few minutes. With evaporation of solvent, viscosity increases. With decrease in radial velocity, viscosity increases for shear-thinning fluid. The fluid stops moving beyond a distance. 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dirty="0" smtClean="0"/>
              <a:t>Heating of resist at 70°C for few minutes to evaporate 15% of solvent remaining to avoid formation of cracks.  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228600" y="228600"/>
            <a:ext cx="46494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IN" sz="2000" dirty="0"/>
              <a:t>Air bubbles in dispensed </a:t>
            </a:r>
            <a:r>
              <a:rPr lang="en-IN" sz="2000" dirty="0" smtClean="0"/>
              <a:t>resin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/>
              <a:t>Dispense tip is cut unevenly or has </a:t>
            </a:r>
            <a:r>
              <a:rPr lang="en-IN" sz="2000" dirty="0" smtClean="0"/>
              <a:t>defects </a:t>
            </a:r>
            <a:endParaRPr lang="en-IN" sz="2000" dirty="0"/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304800" y="1143000"/>
            <a:ext cx="449580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IN" sz="2000" dirty="0" smtClean="0"/>
              <a:t>Dispense rate </a:t>
            </a:r>
            <a:r>
              <a:rPr lang="en-IN" sz="2000" dirty="0"/>
              <a:t>is too high</a:t>
            </a:r>
            <a:br>
              <a:rPr lang="en-IN" sz="2000" dirty="0"/>
            </a:br>
            <a:r>
              <a:rPr lang="en-IN" sz="2000" dirty="0"/>
              <a:t>Spin bowl exhaust rate is too high</a:t>
            </a:r>
            <a:br>
              <a:rPr lang="en-IN" sz="2000" dirty="0"/>
            </a:br>
            <a:r>
              <a:rPr lang="en-IN" sz="2000" dirty="0"/>
              <a:t>Resist </a:t>
            </a:r>
            <a:r>
              <a:rPr lang="en-IN" sz="2000" dirty="0" smtClean="0"/>
              <a:t>on </a:t>
            </a:r>
            <a:r>
              <a:rPr lang="en-IN" sz="2000" dirty="0"/>
              <a:t>wafer </a:t>
            </a:r>
            <a:r>
              <a:rPr lang="en-IN" sz="2000" dirty="0" smtClean="0"/>
              <a:t>for too </a:t>
            </a:r>
            <a:r>
              <a:rPr lang="en-IN" sz="2000" dirty="0"/>
              <a:t>long prior to spin</a:t>
            </a:r>
            <a:br>
              <a:rPr lang="en-IN" sz="2000" dirty="0"/>
            </a:br>
            <a:r>
              <a:rPr lang="en-IN" sz="2000" dirty="0"/>
              <a:t>Spin </a:t>
            </a:r>
            <a:r>
              <a:rPr lang="en-IN" sz="2000" dirty="0" smtClean="0"/>
              <a:t>speed / acceleration is </a:t>
            </a:r>
            <a:r>
              <a:rPr lang="en-IN" sz="2000" dirty="0"/>
              <a:t>too high</a:t>
            </a:r>
            <a:br>
              <a:rPr lang="en-IN" sz="2000" dirty="0"/>
            </a:br>
            <a:endParaRPr lang="en-IN" sz="2000" dirty="0"/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304800" y="2819400"/>
            <a:ext cx="389395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IN" sz="2000" dirty="0" smtClean="0"/>
              <a:t>Fluid </a:t>
            </a:r>
            <a:r>
              <a:rPr lang="en-IN" sz="2000" dirty="0"/>
              <a:t>is striking substrate </a:t>
            </a:r>
            <a:r>
              <a:rPr lang="en-IN" sz="2000" dirty="0" smtClean="0"/>
              <a:t> </a:t>
            </a:r>
            <a:r>
              <a:rPr lang="en-IN" sz="2000" dirty="0"/>
              <a:t>off </a:t>
            </a:r>
            <a:r>
              <a:rPr lang="en-IN" sz="2000" dirty="0" smtClean="0"/>
              <a:t>centre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 smtClean="0"/>
              <a:t>Spin </a:t>
            </a:r>
            <a:r>
              <a:rPr lang="en-IN" sz="2000" dirty="0"/>
              <a:t>time too short </a:t>
            </a: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381000" y="4267200"/>
            <a:ext cx="321831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IN" sz="2000" dirty="0"/>
              <a:t>Insufficient dispense volume </a:t>
            </a: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381000" y="5562600"/>
            <a:ext cx="430425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IN" sz="2000" dirty="0"/>
              <a:t>Air </a:t>
            </a:r>
            <a:r>
              <a:rPr lang="en-IN" sz="2000" dirty="0" smtClean="0"/>
              <a:t>bubbles / particles present in resin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/>
              <a:t>Particles </a:t>
            </a:r>
            <a:r>
              <a:rPr lang="en-IN" sz="2000" dirty="0" smtClean="0"/>
              <a:t>on </a:t>
            </a:r>
            <a:r>
              <a:rPr lang="en-IN" sz="2000" dirty="0"/>
              <a:t>substrate </a:t>
            </a:r>
            <a:r>
              <a:rPr lang="en-IN" sz="2000" dirty="0" smtClean="0"/>
              <a:t>prior </a:t>
            </a:r>
            <a:r>
              <a:rPr lang="en-IN" sz="2000" dirty="0"/>
              <a:t>to dispense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Exposure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990600"/>
            <a:ext cx="8229600" cy="51355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Substrate, coated with photosensitive polymer is placed in an aligner.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dirty="0" smtClean="0"/>
              <a:t>Luminous flux crosses the mask and hits the coating on the substrate.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Light of wavelength 300 – 450 nm is used.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dirty="0" smtClean="0"/>
              <a:t>Luminous flux initiates reactions in the polymer.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Positive Resist (PMMA): After exposure, the polymer becomes soluble in a solvent</a:t>
            </a:r>
            <a:r>
              <a:rPr kumimoji="0" lang="en-IN" sz="24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as the light weakens the internal bonds</a:t>
            </a:r>
            <a:r>
              <a:rPr kumimoji="0" lang="en-IN" sz="24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 Exposed part is eliminated.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baseline="0" dirty="0" smtClean="0">
                <a:sym typeface="Wingdings" pitchFamily="2" charset="2"/>
              </a:rPr>
              <a:t>Negative resist (KTFR</a:t>
            </a:r>
            <a:r>
              <a:rPr lang="en-IN" sz="2400" dirty="0" smtClean="0">
                <a:sym typeface="Wingdings" pitchFamily="2" charset="2"/>
              </a:rPr>
              <a:t> from Kodak</a:t>
            </a:r>
            <a:r>
              <a:rPr lang="en-IN" sz="2400" baseline="0" dirty="0" smtClean="0">
                <a:sym typeface="Wingdings" pitchFamily="2" charset="2"/>
              </a:rPr>
              <a:t>, SU8 from IBM): After exposure, the polymer becomes insoluble in a solvent, as light induces covalent bonds between chains</a:t>
            </a:r>
            <a:r>
              <a:rPr lang="en-IN" sz="2400" dirty="0" smtClean="0">
                <a:sym typeface="Wingdings" pitchFamily="2" charset="2"/>
              </a:rPr>
              <a:t>  The unexposed part is eliminated.</a:t>
            </a:r>
            <a:r>
              <a:rPr lang="en-IN" sz="2400" baseline="0" dirty="0" smtClean="0">
                <a:sym typeface="Wingdings" pitchFamily="2" charset="2"/>
              </a:rPr>
              <a:t> 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Other issues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u="sng" dirty="0" smtClean="0"/>
              <a:t>Half-light effect during exposure</a:t>
            </a:r>
            <a:endParaRPr lang="en-IN" sz="2400" u="sng" dirty="0" smtClean="0"/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Opaque object produces shadow as well</a:t>
            </a:r>
            <a:r>
              <a:rPr kumimoji="0" lang="en-IN" sz="24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as penumbra.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baseline="0" dirty="0" smtClean="0"/>
              <a:t>Diffraction.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4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These effects should be as small as possible.</a:t>
            </a:r>
          </a:p>
          <a:p>
            <a:pPr marL="342900" lvl="0" indent="-342900">
              <a:spcBef>
                <a:spcPct val="20000"/>
              </a:spcBef>
            </a:pPr>
            <a:r>
              <a:rPr lang="en-IN" sz="2400" u="sng" dirty="0" smtClean="0"/>
              <a:t>Transparency of the resist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4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Light has to penetrate and modify the resist over the entire thickness of </a:t>
            </a:r>
            <a:r>
              <a:rPr lang="en-IN" sz="2400" dirty="0" smtClean="0"/>
              <a:t>resist layer</a:t>
            </a:r>
            <a:endParaRPr kumimoji="0" lang="en-IN" sz="2400" b="0" i="0" u="none" strike="noStrike" kern="1200" cap="none" spc="0" normalizeH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</a:pPr>
            <a:r>
              <a:rPr kumimoji="0" lang="en-IN" sz="2400" b="0" i="0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Choice between positive and negative resist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Negative resists adhere better to the substrate.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dirty="0" smtClean="0"/>
              <a:t>Negative resists are more chemically resistant.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dirty="0" smtClean="0"/>
              <a:t>Positive resists show better contrast in </a:t>
            </a:r>
            <a:r>
              <a:rPr lang="en-IN" sz="2400" dirty="0" err="1" smtClean="0"/>
              <a:t>photosolubility</a:t>
            </a:r>
            <a:r>
              <a:rPr lang="en-IN" sz="2400" dirty="0" smtClean="0"/>
              <a:t>.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Typical</a:t>
            </a:r>
            <a:r>
              <a:rPr kumimoji="0" lang="en-US" sz="44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 Protocol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762000"/>
            <a:ext cx="8229600" cy="5638800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Immerse the wafer in acetone in an ultrasonic bath to dissolve organic residue and then drying.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000" dirty="0" smtClean="0"/>
              <a:t>Repeat the previous step with alcohol.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Dehydrate</a:t>
            </a:r>
            <a:r>
              <a:rPr kumimoji="0" lang="en-IN" sz="20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on a hot plate at 120°C for 5 minutes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000" baseline="0" dirty="0" smtClean="0"/>
              <a:t>The first three steps, above ensure removal of contaminant from the wafer.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000" dirty="0" smtClean="0"/>
              <a:t>The wafer is coated with </a:t>
            </a:r>
            <a:r>
              <a:rPr lang="en-IN" sz="2000" dirty="0" err="1" smtClean="0"/>
              <a:t>photoresist</a:t>
            </a:r>
            <a:r>
              <a:rPr lang="en-IN" sz="2000" dirty="0" smtClean="0"/>
              <a:t> in spin-coater.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000" baseline="0" dirty="0" smtClean="0"/>
              <a:t>System is heated to 65°C for one</a:t>
            </a:r>
            <a:r>
              <a:rPr lang="en-IN" sz="2000" dirty="0" smtClean="0"/>
              <a:t> minute, and 95°C for three minutes to ensure hardening of </a:t>
            </a:r>
            <a:r>
              <a:rPr lang="en-IN" sz="2000" dirty="0" err="1" smtClean="0"/>
              <a:t>photoresist</a:t>
            </a:r>
            <a:r>
              <a:rPr lang="en-IN" sz="2000" dirty="0" smtClean="0"/>
              <a:t>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000" baseline="0" dirty="0" smtClean="0"/>
              <a:t>Exposure.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000" dirty="0" smtClean="0"/>
              <a:t>The wafer is post-baked to 65°C for one minute, and 95°C for two minutes to ensure progressive rearrangement of material during thermal deformation.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000" dirty="0" smtClean="0"/>
              <a:t>The system dipped in developing solution for 3 minutes.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000" dirty="0" smtClean="0"/>
              <a:t>The system is rinsed with alcohol, and dried with nitrogen.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000" dirty="0" smtClean="0"/>
              <a:t>The system is heated to 200°C for two hours. </a:t>
            </a:r>
            <a:r>
              <a:rPr lang="en-IN" sz="2000" baseline="0" dirty="0" smtClean="0"/>
              <a:t> 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Silicon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Delivered in the</a:t>
            </a:r>
            <a:r>
              <a:rPr kumimoji="0" lang="en-IN" sz="24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form of wafer that constitute a </a:t>
            </a:r>
            <a:r>
              <a:rPr kumimoji="0" lang="en-IN" sz="2400" b="0" i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monocrysta</a:t>
            </a:r>
            <a:r>
              <a:rPr lang="en-IN" sz="2400" dirty="0" smtClean="0"/>
              <a:t>l.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Produced</a:t>
            </a:r>
            <a:r>
              <a:rPr kumimoji="0" lang="en-IN" sz="24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by well-controlled crystalline growth process in clean-room (Class 1-10), by slowly pulling a crystal from an ultrapure bath of silicon.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baseline="0" dirty="0" smtClean="0"/>
              <a:t>Slices</a:t>
            </a:r>
            <a:r>
              <a:rPr lang="en-IN" sz="2400" dirty="0" smtClean="0"/>
              <a:t> are cut from a cylinder, followed by atomic polishing phase.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Typical</a:t>
            </a:r>
            <a:r>
              <a:rPr kumimoji="0" lang="en-IN" sz="24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thickness of wafer ≈ 500 µm.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baseline="0" dirty="0" smtClean="0"/>
              <a:t>The other dimensions ≈ 4 inches.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4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Two inter penetrating face-centred cubic lattice network.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400" baseline="0" dirty="0" smtClean="0"/>
              <a:t>Side of one cubic face is 5.43 A°.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4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Highest density planes &lt;1 1 1&gt; form an angle of 54.74° to      &lt;1 0 0&gt; plane.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Wet etching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Subjecting parts of an object to chemical reactions and subsequent dissolution.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The other parts are protected by a mask.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Technique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is used in fifteenth century to decorate armours. Wax is used as a mask. Wax on parts, identified for etching is cut out. Dipping into reactive bath for a period of time ensures chemical etching / hollowed out pattern in places, not covered by wax. Wax is removed by heating later.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baseline="0" dirty="0" smtClean="0">
                <a:latin typeface="Times New Roman" pitchFamily="18" charset="0"/>
                <a:cs typeface="Times New Roman" pitchFamily="18" charset="0"/>
              </a:rPr>
              <a:t>Rate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of etching follows Arrhenius expression, and is strong function of temperature, unlike solubilisation of resist.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Anisotropic etching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533400" y="762000"/>
            <a:ext cx="80010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&lt;1 1 1&gt; planes of silicon are highly packed with atoms.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Velocity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of etching is slow along planes &lt;1 1 1&gt; and fast along &lt;1 0 0&gt; or &lt;1 1 0&gt;.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Typical etching speed with KOH along  &lt;1 1 1&gt; plane is 13 µm/hour.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The etching speed is 60 times faster in other orientations.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5400" y="1219200"/>
            <a:ext cx="6629400" cy="4228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Etching happens preferentially along a crystallographic plane.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The crystal will make the cut-out forms appear spontaneously along the planes where the etching is slowest.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This form of etching makes possible cavities with facets, which can be useful.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This type of etching is not possible in amorphous solid, e.g., glass. 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Anisotropic etching   …contd.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Isotropic etching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Carried out equally in three spatial direction.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Example: Etching of glass by HF. 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Dry etching of silicon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Times New Roman" pitchFamily="18" charset="0"/>
              </a:rPr>
              <a:t>Attack of a substrate by an ionic species,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cs typeface="Times New Roman" pitchFamily="18" charset="0"/>
              </a:rPr>
              <a:t> contained in gaseous or plasma phase.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baseline="0" dirty="0" smtClean="0">
                <a:cs typeface="Times New Roman" pitchFamily="18" charset="0"/>
              </a:rPr>
              <a:t>Isotropy</a:t>
            </a:r>
            <a:r>
              <a:rPr lang="en-IN" sz="2800" dirty="0" smtClean="0">
                <a:cs typeface="Times New Roman" pitchFamily="18" charset="0"/>
              </a:rPr>
              <a:t> or anisotropy controlled by the etching process, and </a:t>
            </a:r>
            <a:r>
              <a:rPr lang="en-IN" sz="2800" u="sng" dirty="0" smtClean="0">
                <a:cs typeface="Times New Roman" pitchFamily="18" charset="0"/>
              </a:rPr>
              <a:t>not</a:t>
            </a:r>
            <a:r>
              <a:rPr lang="en-IN" sz="2800" dirty="0" smtClean="0">
                <a:cs typeface="Times New Roman" pitchFamily="18" charset="0"/>
              </a:rPr>
              <a:t> by crystalline structure.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cs typeface="Times New Roman" pitchFamily="18" charset="0"/>
              </a:rPr>
              <a:t>Types of dry etching: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en-IN" sz="2400" dirty="0" smtClean="0">
                <a:cs typeface="Times New Roman" pitchFamily="18" charset="0"/>
              </a:rPr>
              <a:t>Physical etching (sputtering, Ion-beam etching, Ion milling)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en-IN" sz="2400" dirty="0" smtClean="0">
                <a:cs typeface="Times New Roman" pitchFamily="18" charset="0"/>
              </a:rPr>
              <a:t>Chemical etching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en-IN" sz="2400" dirty="0" err="1" smtClean="0">
                <a:cs typeface="Times New Roman" pitchFamily="18" charset="0"/>
              </a:rPr>
              <a:t>Physico</a:t>
            </a:r>
            <a:r>
              <a:rPr lang="en-IN" sz="2400" dirty="0" smtClean="0">
                <a:cs typeface="Times New Roman" pitchFamily="18" charset="0"/>
              </a:rPr>
              <a:t>-chemical etching (RIE)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en-IN" sz="2400" dirty="0" err="1" smtClean="0">
                <a:cs typeface="Times New Roman" pitchFamily="18" charset="0"/>
              </a:rPr>
              <a:t>Physico</a:t>
            </a:r>
            <a:r>
              <a:rPr lang="en-IN" sz="2400" dirty="0" smtClean="0">
                <a:cs typeface="Times New Roman" pitchFamily="18" charset="0"/>
              </a:rPr>
              <a:t>-chemical etching with inhibitors (DRIE)</a:t>
            </a:r>
          </a:p>
          <a:p>
            <a:pPr marL="1257300" lvl="2" indent="-342900">
              <a:spcBef>
                <a:spcPct val="20000"/>
              </a:spcBef>
            </a:pPr>
            <a:r>
              <a:rPr lang="en-IN" sz="2400" dirty="0" smtClean="0">
                <a:cs typeface="Times New Roman" pitchFamily="18" charset="0"/>
              </a:rPr>
              <a:t> </a:t>
            </a: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Times New Roman" pitchFamily="18" charset="0"/>
              </a:rPr>
              <a:t> 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Physical etching 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Ions are accelerated in an electric field (10 </a:t>
            </a:r>
            <a:r>
              <a:rPr kumimoji="0" lang="en-IN" sz="28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eV</a:t>
            </a: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to 5000 </a:t>
            </a:r>
            <a:r>
              <a:rPr kumimoji="0" lang="en-IN" sz="28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eV</a:t>
            </a: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generated between two electrodes).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Ions bombard the surface of a target.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Low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pressure (~ </a:t>
            </a:r>
            <a:r>
              <a:rPr kumimoji="0" lang="en-IN" sz="2800" b="0" i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mTorr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) helps in making the ion ballistic.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baseline="0" dirty="0" smtClean="0">
                <a:latin typeface="Times New Roman" pitchFamily="18" charset="0"/>
                <a:cs typeface="Times New Roman" pitchFamily="18" charset="0"/>
              </a:rPr>
              <a:t>Use of CF</a:t>
            </a:r>
            <a:r>
              <a:rPr lang="en-IN" sz="28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gas is common in ionization.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The method is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inherently anisotropic because of the pathway taken by the reflected ions.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baseline="0" dirty="0" smtClean="0">
                <a:latin typeface="Times New Roman" pitchFamily="18" charset="0"/>
                <a:cs typeface="Times New Roman" pitchFamily="18" charset="0"/>
              </a:rPr>
              <a:t>Selectivity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(about the portions of the substrate to be etched) is poor.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Etching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rate 0.6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µm/hour to 18 µm/hour for most materials.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Chemical etching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609600"/>
            <a:ext cx="8229600" cy="55165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Chemical species (neutral) migrate towards the target by diffusion.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Chemical reaction occurs on the surface of the target.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2XeF</a:t>
            </a:r>
            <a:r>
              <a:rPr kumimoji="0" lang="en-IN" sz="2800" b="0" i="0" u="none" strike="noStrike" kern="120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(sublimated) + Si 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2 </a:t>
            </a:r>
            <a:r>
              <a:rPr kumimoji="0" lang="en-IN" sz="2800" b="0" i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Xe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+ SiF</a:t>
            </a:r>
            <a:r>
              <a:rPr kumimoji="0" lang="en-IN" sz="2800" b="0" i="0" u="none" strike="noStrike" kern="120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4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(volatile)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Both the products </a:t>
            </a:r>
            <a:r>
              <a:rPr kumimoji="0" lang="en-IN" sz="28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desorb</a:t>
            </a: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and diffuse back.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Chemical species not accelerated by application of voltage.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295400"/>
            <a:ext cx="67056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Volatile products are not reflected.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Movement is diffusive, and not ballistic.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Mostly isotropic etching.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Etching rate ≈ µm/min.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Etched surface is rough.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Pressure is maintained at 0.1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Torr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to 1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Torr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Chemical etching  … contd.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Physicochemical dry etching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(Reactive ion etching: RIE)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1143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Combined effect of physical and chemical etching.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Commonly used in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microfabrication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Target is placed on the cathode.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Cold plasma breaks down CF</a:t>
            </a:r>
            <a:r>
              <a:rPr lang="en-IN" sz="28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to CF</a:t>
            </a:r>
            <a:r>
              <a:rPr lang="en-IN" sz="2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IN" sz="2800" baseline="300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+ F</a:t>
            </a:r>
            <a:r>
              <a:rPr lang="en-IN" sz="2800" baseline="30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and makes the ion ballistic at low pressure.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Anisotropic; Etch rate 10 times that of physical etching.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Good in etching SiO</a:t>
            </a:r>
            <a:r>
              <a:rPr lang="en-IN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(wet etching of SiO</a:t>
            </a:r>
            <a:r>
              <a:rPr lang="en-IN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takes time) from the surface of Si wafer.</a:t>
            </a:r>
          </a:p>
          <a:p>
            <a:pPr marL="342900" lvl="0" indent="-342900">
              <a:spcBef>
                <a:spcPct val="20000"/>
              </a:spcBef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04800" y="0"/>
            <a:ext cx="8610600" cy="838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err="1" smtClean="0">
                <a:latin typeface="Times New Roman" pitchFamily="18" charset="0"/>
                <a:ea typeface="+mj-ea"/>
                <a:cs typeface="Times New Roman" pitchFamily="18" charset="0"/>
              </a:rPr>
              <a:t>Physico</a:t>
            </a:r>
            <a:r>
              <a:rPr lang="en-US" sz="28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-chemical etching with inhibitor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(Deep reactive ion etching: DRIE)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914400"/>
            <a:ext cx="8229600" cy="5638800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6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Physicochemical etching with non-volatile reaction</a:t>
            </a:r>
            <a:r>
              <a:rPr kumimoji="0" lang="en-IN" sz="26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products.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600" baseline="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 gas is CCl</a:t>
            </a:r>
            <a:r>
              <a:rPr lang="en-IN" sz="26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Non-volatile component (inhibitor) is deposited on the neighbouring vertical surface.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6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0" lang="en-IN" sz="26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polymerized protective film is formed on the vertical surfaces.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600" baseline="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 film protects the vertical surface from the reflected products, arising from ballistic ions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Very deep structure ~ 500 µm with aspect ratio of 30:1 can be obtained.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6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Making a through hole of high aspect ratio</a:t>
            </a:r>
            <a:r>
              <a:rPr kumimoji="0" lang="en-IN" sz="26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is difficult from wet etching due to anisotropy.</a:t>
            </a:r>
            <a:endParaRPr kumimoji="0" lang="en-IN" sz="2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Deposition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on silicon and glass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Deposition is required to form electrode, catalyst, thermal or electrical insulation, adsorbent, optical elements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on the wall of the channel.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u="sng" dirty="0" smtClean="0">
                <a:latin typeface="Times New Roman" pitchFamily="18" charset="0"/>
                <a:cs typeface="Times New Roman" pitchFamily="18" charset="0"/>
              </a:rPr>
              <a:t>Physical </a:t>
            </a:r>
            <a:r>
              <a:rPr lang="en-IN" sz="2800" u="sng" dirty="0" err="1" smtClean="0">
                <a:latin typeface="Times New Roman" pitchFamily="18" charset="0"/>
                <a:cs typeface="Times New Roman" pitchFamily="18" charset="0"/>
              </a:rPr>
              <a:t>vapor</a:t>
            </a:r>
            <a:r>
              <a:rPr lang="en-IN" sz="2800" u="sng" dirty="0" smtClean="0">
                <a:latin typeface="Times New Roman" pitchFamily="18" charset="0"/>
                <a:cs typeface="Times New Roman" pitchFamily="18" charset="0"/>
              </a:rPr>
              <a:t> deposition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Certain species from the holding gas is adsorbed on the surface of the target. Two types are thermal evaporation and sputtering.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Chemical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vapor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deposition</a:t>
            </a:r>
          </a:p>
          <a:p>
            <a:pPr marL="342900" lvl="0" indent="-342900">
              <a:spcBef>
                <a:spcPct val="20000"/>
              </a:spcBef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Certain species from the holding gas reacts with the target forming compounds that are chemically bonded to the target.  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Thermal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evaporation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Material to be deposited faces the target in a container.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High temperature ensures sublimation of materials.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Low pressure (10</a:t>
            </a:r>
            <a:r>
              <a:rPr kumimoji="0" lang="en-IN" sz="2800" b="0" i="0" u="none" strike="noStrike" kern="1200" cap="none" spc="0" normalizeH="0" baseline="30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-8 </a:t>
            </a:r>
            <a:r>
              <a:rPr kumimoji="0" lang="en-IN" sz="2800" b="0" i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Torr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) ensures avoidance of unwanted parasite deposition of molecules present in the chamber.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baseline="0" dirty="0" smtClean="0">
                <a:latin typeface="Times New Roman" pitchFamily="18" charset="0"/>
                <a:cs typeface="Times New Roman" pitchFamily="18" charset="0"/>
              </a:rPr>
              <a:t>Deposit rate ~ A°/s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Simple to implement. Good for metal deposit.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Sputtering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Target is on anode,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and the material to be deposited is on cathode.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baseline="0" dirty="0" smtClean="0">
                <a:latin typeface="Times New Roman" pitchFamily="18" charset="0"/>
                <a:cs typeface="Times New Roman" pitchFamily="18" charset="0"/>
              </a:rPr>
              <a:t>Use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of cold plasma gives the option of depositing variety of materials.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Ionic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kinetic energy of 0.3 </a:t>
            </a:r>
            <a:r>
              <a:rPr kumimoji="0" lang="en-IN" sz="2800" b="0" i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keV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to 2 </a:t>
            </a:r>
            <a:r>
              <a:rPr kumimoji="0" lang="en-IN" sz="2800" b="0" i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keV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ensures penetration by one or two molecular layers of the substrate 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good adhesion.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Chemical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vapor deposition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791200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Homogeneous </a:t>
            </a: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reaction takes place in the gas phase,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and the product gets adsorbed on the target surface.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SiH</a:t>
            </a:r>
            <a:r>
              <a:rPr kumimoji="0" lang="en-IN" sz="2800" b="0" i="0" u="none" strike="noStrike" kern="120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4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Si + 2H</a:t>
            </a:r>
            <a:r>
              <a:rPr lang="en-IN" sz="2800" baseline="-25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	nucleation and growth of Si crystal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				desorption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of 2H</a:t>
            </a:r>
            <a:r>
              <a:rPr kumimoji="0" lang="en-IN" sz="2800" b="0" i="0" u="none" strike="noStrike" kern="120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sng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Heterogeneous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reaction at the surface of the target.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	Si + O</a:t>
            </a:r>
            <a:r>
              <a:rPr kumimoji="0" lang="en-IN" sz="2800" b="0" i="0" u="none" strike="noStrike" kern="120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 SiO</a:t>
            </a:r>
            <a:r>
              <a:rPr kumimoji="0" lang="en-IN" sz="2800" b="0" i="0" u="none" strike="noStrike" kern="120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</a:t>
            </a:r>
            <a:endParaRPr kumimoji="0" lang="en-IN" sz="2800" b="0" i="0" u="none" strike="noStrike" kern="1200" cap="none" spc="0" normalizeH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	2 nm layer of SiO</a:t>
            </a:r>
            <a:r>
              <a:rPr lang="en-IN" sz="2800" baseline="-25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forms when silicon wafer is exposed to ambient air.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	The thickness of SiO</a:t>
            </a:r>
            <a:r>
              <a:rPr kumimoji="0" lang="en-IN" sz="2800" b="0" i="0" u="none" strike="noStrike" kern="120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will be 1 µm when exposed to air at 650°C.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Gas phase diffusion ensures low defect density in crystal.</a:t>
            </a:r>
            <a:endParaRPr kumimoji="0" lang="en-IN" sz="2800" b="0" i="0" u="none" strike="noStrike" kern="1200" cap="none" spc="0" normalizeH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marL="342900" lvl="0" indent="-342900">
              <a:spcBef>
                <a:spcPct val="20000"/>
              </a:spcBef>
            </a:pPr>
            <a:endParaRPr kumimoji="0" lang="en-IN" sz="2800" b="0" i="0" u="none" strike="noStrike" kern="1200" cap="none" spc="0" normalizeH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Chemical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vapor deposition  ….contd. 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638800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6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Three types of CVD:</a:t>
            </a:r>
            <a:r>
              <a:rPr kumimoji="0" lang="en-IN" sz="26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LPCVD (low pressure ~ 1 </a:t>
            </a:r>
            <a:r>
              <a:rPr kumimoji="0" lang="en-IN" sz="2600" b="0" i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Torr</a:t>
            </a:r>
            <a:r>
              <a:rPr kumimoji="0" lang="en-IN" sz="26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), APCVD(atmospheric pressure), PECVD (plasma enhanced, low pressure).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Plasma enhances chemical reactions at the target surface using ionic bombardment. Also, energy of incident particles helps penetrating into the target surface, resulting in constant film thickness and conformal deposition.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6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Lower pressure ensures that the mean free path of molecules is high for easy diffusion of species.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Deposition rate ~ µm / hour.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6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Versatility in material deposited (includes deposition of insulators)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en-IN" sz="2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Electrolytic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deposition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Metal deposition on the substrate held as anode.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Solution is metallic salt (e.g., CuSO</a:t>
            </a:r>
            <a:r>
              <a:rPr lang="en-IN" sz="28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Metal ion (Cu</a:t>
            </a:r>
            <a:r>
              <a:rPr kumimoji="0" lang="en-IN" sz="2800" b="0" i="0" u="none" strike="noStrike" kern="1200" cap="none" spc="0" normalizeH="0" baseline="30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2+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) migrates towards anode.</a:t>
            </a:r>
          </a:p>
          <a:p>
            <a:pPr marL="342900" lvl="0" indent="-342900">
              <a:spcBef>
                <a:spcPct val="20000"/>
              </a:spcBef>
            </a:pPr>
            <a:r>
              <a:rPr lang="en-IN" sz="2800" baseline="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Cu</a:t>
            </a:r>
            <a:r>
              <a:rPr lang="en-IN" sz="2800" baseline="30000" dirty="0" smtClean="0">
                <a:latin typeface="Times New Roman" pitchFamily="18" charset="0"/>
                <a:cs typeface="Times New Roman" pitchFamily="18" charset="0"/>
              </a:rPr>
              <a:t>2+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+ 2 e</a:t>
            </a:r>
            <a:r>
              <a:rPr lang="en-IN" sz="2800" baseline="30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Cu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Metal ion captures electron at the electrode and form molecule that adsorbs onto the electrode.</a:t>
            </a:r>
            <a:endParaRPr kumimoji="0" lang="en-IN" sz="2800" b="0" i="0" u="none" strike="noStrike" kern="1200" cap="none" spc="0" normalizeH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Sealing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in silicon and glass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Grooves,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curved onto the silicon wafer must be covered with another glass wafer in water-tight manner to complete the making of device.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baseline="0" dirty="0" smtClean="0">
                <a:latin typeface="Times New Roman" pitchFamily="18" charset="0"/>
                <a:cs typeface="Times New Roman" pitchFamily="18" charset="0"/>
              </a:rPr>
              <a:t>Anodic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bonding refers to glass-silicon sealing by the use of intense electric field (1 kV) and elevated temperature (400°C).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The electric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field induces migration of Na</a:t>
            </a:r>
            <a:r>
              <a:rPr kumimoji="0" lang="en-IN" sz="2800" b="0" i="0" u="none" strike="noStrike" kern="1200" cap="none" spc="0" normalizeH="0" baseline="30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ions in the glass to the interface, and interpenetration of atoms at the glass-silicon interface.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baseline="0" dirty="0" smtClean="0">
                <a:latin typeface="Times New Roman" pitchFamily="18" charset="0"/>
                <a:cs typeface="Times New Roman" pitchFamily="18" charset="0"/>
              </a:rPr>
              <a:t>Thermal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expansion coefficient of glass lid should be same as silicon to avoid crack. Pyrex Corning 7740 may be a suggested one.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Sealing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in silicon and glass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Cleanliness of surface is important.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Anodic bonding between silicon to silicon is possible through intermediate glass layer. Thin glass layer (0.5 µm to 4µm) is deposited on silicon by physical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vapor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deposition or spin-on technique.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Seal from anodic bonding is water-tight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up to 100 atmosphere.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Fusion bonding refers to bonding Si-glass wafers without application of any voltage, instead using higher temperature (600°C to 1100°C).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Fabrication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of plastic </a:t>
            </a:r>
            <a:r>
              <a:rPr kumimoji="0" lang="en-US" sz="2800" b="1" i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microfluidic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devices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</a:pPr>
            <a:r>
              <a:rPr kumimoji="0" lang="en-IN" sz="2800" b="0" i="0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Moulding, </a:t>
            </a:r>
            <a:r>
              <a:rPr lang="en-IN" sz="2800" u="sng" dirty="0" smtClean="0">
                <a:latin typeface="Times New Roman" pitchFamily="18" charset="0"/>
                <a:cs typeface="Times New Roman" pitchFamily="18" charset="0"/>
              </a:rPr>
              <a:t>Casting, and Microinjection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Mould is the negative master, made of silicon, electrodeposited metal or reticulated polymer.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Common method of making a mould is photolithography. For processing at high temperature and pressure, electrodeposited or traditional micro-machined metallic moulds are used.  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Moulding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Catalyst + polymer is poured on a mould and heated.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Later,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the structure is peeled off the mould and contains the pattern of the mould in negative form.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baseline="0" dirty="0" smtClean="0">
                <a:latin typeface="Times New Roman" pitchFamily="18" charset="0"/>
                <a:cs typeface="Times New Roman" pitchFamily="18" charset="0"/>
              </a:rPr>
              <a:t>Common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polymer is PDMS.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Temperature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of about 70°C is required.</a:t>
            </a:r>
            <a:endParaRPr kumimoji="0" lang="en-IN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Casting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/ hot embossing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Mould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/ Stamp is pressed into a heated deformable material.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baseline="0" dirty="0" smtClean="0">
                <a:latin typeface="Times New Roman" pitchFamily="18" charset="0"/>
                <a:cs typeface="Times New Roman" pitchFamily="18" charset="0"/>
              </a:rPr>
              <a:t>After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cooling and separation, the structure represents negative of mould.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Common polymeric material is PMMA. Other plastics are polyethylene, PVC, PEEK.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Temperature ~ 170°C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Pressure ~ 10 – 100 bar. </a:t>
            </a:r>
            <a:endParaRPr kumimoji="0" lang="en-IN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Microinjection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Meant for serial production on industrial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scale.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baseline="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liquid plastic material is injected into a mould under a vacuum at a temperature  &gt; Glass Transition Temperature.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Next, the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system is cooled down below the glass transition temperature.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baseline="0" dirty="0" smtClean="0">
                <a:latin typeface="Times New Roman" pitchFamily="18" charset="0"/>
                <a:cs typeface="Times New Roman" pitchFamily="18" charset="0"/>
              </a:rPr>
              <a:t>Mould is taken off, and a structure corresponding to the negative of the mould is obtained. 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Advantages of plastic </a:t>
            </a:r>
            <a:r>
              <a:rPr kumimoji="0" lang="en-IN" sz="28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microfluidic</a:t>
            </a:r>
            <a:r>
              <a:rPr kumimoji="0" lang="en-IN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devices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Precision is surprisingly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high (sub-micrometric precision).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baseline="0" dirty="0" smtClean="0">
                <a:latin typeface="Times New Roman" pitchFamily="18" charset="0"/>
                <a:cs typeface="Times New Roman" pitchFamily="18" charset="0"/>
              </a:rPr>
              <a:t>PDMS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is transparent.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Elastomeric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quantity helps water-tightness by holding on tightly to the lid / interconnect.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baseline="0" dirty="0" smtClean="0">
                <a:latin typeface="Times New Roman" pitchFamily="18" charset="0"/>
                <a:cs typeface="Times New Roman" pitchFamily="18" charset="0"/>
              </a:rPr>
              <a:t>Weak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surface energy helps in peeling from the mould.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PDMS is permeable to gas.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Trapped air can escape during liquid fill-up operation.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baseline="0" dirty="0" smtClean="0">
                <a:latin typeface="Times New Roman" pitchFamily="18" charset="0"/>
                <a:cs typeface="Times New Roman" pitchFamily="18" charset="0"/>
              </a:rPr>
              <a:t>Untreated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PDMS is hydrophobic. It becomes hydrophilic after oxidation of methyl group at the surface by oxygen plasma.</a:t>
            </a:r>
            <a:endParaRPr kumimoji="0" lang="en-IN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Disadvantages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of plastic </a:t>
            </a:r>
            <a:r>
              <a:rPr kumimoji="0" lang="en-US" sz="2800" b="1" i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microfluidic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device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Aging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Deformability for high aspect ratio.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PDMS cannot tolerate high temperature </a:t>
            </a: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evaporative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deposition of metallic electrodes is not possible. However, hybrid structure made of PDMS layer placed on silicon wafer with evaporated electrode is possible.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Direct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micromachining of plastics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µ-</a:t>
            </a:r>
            <a:r>
              <a:rPr kumimoji="0" lang="en-IN" sz="28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stereolithography</a:t>
            </a: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: photosensitive resists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are polymerized layer after layer by applying a spot of UV laser.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baseline="0" dirty="0" smtClean="0">
                <a:latin typeface="Times New Roman" pitchFamily="18" charset="0"/>
                <a:cs typeface="Times New Roman" pitchFamily="18" charset="0"/>
              </a:rPr>
              <a:t>Laser ablation: Plastic is removed locally by sublimation using intense laser beam.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en-IN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9144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Bonding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of two wafers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t</a:t>
            </a:r>
            <a:r>
              <a:rPr lang="en-US" sz="2800" b="1" baseline="0" dirty="0" smtClean="0">
                <a:latin typeface="Times New Roman" pitchFamily="18" charset="0"/>
                <a:ea typeface="+mj-ea"/>
                <a:cs typeface="Times New Roman" pitchFamily="18" charset="0"/>
              </a:rPr>
              <a:t>o</a:t>
            </a:r>
            <a:r>
              <a:rPr lang="en-US" sz="28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 put a lid on carved </a:t>
            </a:r>
            <a:r>
              <a:rPr lang="en-US" sz="2800" b="1" dirty="0" err="1" smtClean="0">
                <a:latin typeface="Times New Roman" pitchFamily="18" charset="0"/>
                <a:ea typeface="+mj-ea"/>
                <a:cs typeface="Times New Roman" pitchFamily="18" charset="0"/>
              </a:rPr>
              <a:t>microchannel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1066800"/>
            <a:ext cx="8229600" cy="5410200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</a:pPr>
            <a:r>
              <a:rPr kumimoji="0" lang="en-IN" sz="2500" b="0" i="0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Direct bonding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500" dirty="0" smtClean="0">
                <a:latin typeface="Times New Roman" pitchFamily="18" charset="0"/>
                <a:cs typeface="Times New Roman" pitchFamily="18" charset="0"/>
              </a:rPr>
              <a:t>Bonding between substrates of same material – no problem of thermal stress from mismatch of expansion coefficient.</a:t>
            </a:r>
          </a:p>
          <a:p>
            <a:pPr marL="800100" lvl="1" indent="-342900">
              <a:spcBef>
                <a:spcPct val="20000"/>
              </a:spcBef>
            </a:pPr>
            <a:r>
              <a:rPr lang="en-IN" sz="2500" dirty="0" smtClean="0">
                <a:latin typeface="Times New Roman" pitchFamily="18" charset="0"/>
                <a:cs typeface="Times New Roman" pitchFamily="18" charset="0"/>
              </a:rPr>
              <a:t>Si – Si, 	Glass – Glass, 	Polymer – Polymer</a:t>
            </a:r>
          </a:p>
          <a:p>
            <a:pPr marL="342900" indent="-342900">
              <a:spcBef>
                <a:spcPct val="20000"/>
              </a:spcBef>
            </a:pPr>
            <a:r>
              <a:rPr lang="en-IN" sz="2500" u="sng" dirty="0" smtClean="0">
                <a:latin typeface="Times New Roman" pitchFamily="18" charset="0"/>
                <a:cs typeface="Times New Roman" pitchFamily="18" charset="0"/>
              </a:rPr>
              <a:t>Adhesive bonding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500" dirty="0" smtClean="0">
                <a:latin typeface="Times New Roman" pitchFamily="18" charset="0"/>
                <a:cs typeface="Times New Roman" pitchFamily="18" charset="0"/>
              </a:rPr>
              <a:t>Use of glass layer – sprayed, screen-printed, or sputtered on silicon. Annealing the stack at sealing temperature makes the glass layer to melt and flow. Upon cooling , a strong bond develops.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500" dirty="0" smtClean="0">
                <a:latin typeface="Times New Roman" pitchFamily="18" charset="0"/>
                <a:cs typeface="Times New Roman" pitchFamily="18" charset="0"/>
              </a:rPr>
              <a:t>Epoxies, UV curable epoxies and </a:t>
            </a:r>
            <a:r>
              <a:rPr lang="en-IN" sz="2500" dirty="0" err="1" smtClean="0">
                <a:latin typeface="Times New Roman" pitchFamily="18" charset="0"/>
                <a:cs typeface="Times New Roman" pitchFamily="18" charset="0"/>
              </a:rPr>
              <a:t>photoresists</a:t>
            </a:r>
            <a:r>
              <a:rPr lang="en-IN" sz="2500" dirty="0" smtClean="0">
                <a:latin typeface="Times New Roman" pitchFamily="18" charset="0"/>
                <a:cs typeface="Times New Roman" pitchFamily="18" charset="0"/>
              </a:rPr>
              <a:t> as glue has advantage of low process temperature and can be applied to all kinds of substrate material. </a:t>
            </a:r>
            <a:endParaRPr kumimoji="0" lang="en-IN" sz="25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Bonding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of two wafers  …..contd.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</a:pPr>
            <a:r>
              <a:rPr kumimoji="0" lang="en-IN" sz="2800" b="0" i="0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Eutectic bonding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 thin gold film, sputtered on silicon wafer.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Gold-silicon eutectic bonding is achieved at a relatively</a:t>
            </a:r>
            <a:r>
              <a:rPr kumimoji="0" lang="en-IN" sz="2800" b="0" i="0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low temperature of 363°C.</a:t>
            </a:r>
          </a:p>
          <a:p>
            <a:pPr marL="342900" lvl="0" indent="-342900">
              <a:spcBef>
                <a:spcPct val="20000"/>
              </a:spcBef>
            </a:pPr>
            <a:r>
              <a:rPr lang="en-IN" sz="2800" u="sng" baseline="0" dirty="0" smtClean="0">
                <a:latin typeface="Times New Roman" pitchFamily="18" charset="0"/>
                <a:cs typeface="Times New Roman" pitchFamily="18" charset="0"/>
              </a:rPr>
              <a:t>Protocol for Si-Si direct bonding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Hydration of silicon wafer by immersing in H</a:t>
            </a:r>
            <a:r>
              <a:rPr kumimoji="0" lang="en-IN" sz="2800" b="0" i="0" strike="noStrike" kern="120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IN" sz="2800" b="0" i="0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O</a:t>
            </a:r>
            <a:r>
              <a:rPr kumimoji="0" lang="en-IN" sz="2800" b="0" i="0" strike="noStrike" kern="120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IN" sz="2800" b="0" i="0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– H</a:t>
            </a:r>
            <a:r>
              <a:rPr kumimoji="0" lang="en-IN" sz="2800" b="0" i="0" strike="noStrike" kern="120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IN" sz="2800" b="0" i="0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SO</a:t>
            </a:r>
            <a:r>
              <a:rPr kumimoji="0" lang="en-IN" sz="2800" b="0" i="0" strike="noStrike" kern="120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4</a:t>
            </a:r>
            <a:r>
              <a:rPr kumimoji="0" lang="en-IN" sz="2800" b="0" i="0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mixture or boiling HNO</a:t>
            </a:r>
            <a:r>
              <a:rPr kumimoji="0" lang="en-IN" sz="2800" b="0" i="0" strike="noStrike" kern="120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3</a:t>
            </a:r>
            <a:r>
              <a:rPr kumimoji="0" lang="en-IN" sz="2800" b="0" i="0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, or diluted H</a:t>
            </a:r>
            <a:r>
              <a:rPr kumimoji="0" lang="en-IN" sz="2800" b="0" i="0" strike="noStrike" kern="120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IN" sz="2800" b="0" i="0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SO</a:t>
            </a:r>
            <a:r>
              <a:rPr kumimoji="0" lang="en-IN" sz="2800" b="0" i="0" strike="noStrike" kern="120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4</a:t>
            </a:r>
            <a:r>
              <a:rPr kumimoji="0" lang="en-IN" sz="2800" b="0" i="0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baseline="0" dirty="0" smtClean="0">
                <a:latin typeface="Times New Roman" pitchFamily="18" charset="0"/>
                <a:cs typeface="Times New Roman" pitchFamily="18" charset="0"/>
              </a:rPr>
              <a:t>Bonding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at elevated temperatures (300°C to 1000°C).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Annealing (800°C to 1100°C) to improve bond quality.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Bonding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of two wafers  ….contd.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</a:pPr>
            <a:r>
              <a:rPr kumimoji="0" lang="en-IN" sz="2800" b="0" i="0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Protocol for glass-glass direct bonding</a:t>
            </a:r>
            <a:endParaRPr kumimoji="0" lang="en-IN" sz="2800" b="0" i="0" u="sng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Cleaning of glass wafer with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IN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NH</a:t>
            </a:r>
            <a:r>
              <a:rPr lang="en-IN" sz="2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– H</a:t>
            </a:r>
            <a:r>
              <a:rPr lang="en-IN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IN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solution.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Removal of moisture at 130°C, followed by thermal bonding at 600°C for 6 – 8 hours.</a:t>
            </a:r>
          </a:p>
          <a:p>
            <a:pPr marL="342900" lvl="0" indent="-342900">
              <a:spcBef>
                <a:spcPct val="20000"/>
              </a:spcBef>
            </a:pPr>
            <a:r>
              <a:rPr lang="en-IN" sz="2800" u="sng" dirty="0" smtClean="0">
                <a:latin typeface="Times New Roman" pitchFamily="18" charset="0"/>
                <a:cs typeface="Times New Roman" pitchFamily="18" charset="0"/>
              </a:rPr>
              <a:t>Metal-metal direct bonding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Use of high pressure (276 bars) and temperature (920°C) for 4 hours.</a:t>
            </a:r>
          </a:p>
          <a:p>
            <a:pPr marL="342900" lvl="0" indent="-342900">
              <a:spcBef>
                <a:spcPct val="20000"/>
              </a:spcBef>
            </a:pPr>
            <a:r>
              <a:rPr lang="en-IN" sz="2800" u="sng" dirty="0" smtClean="0">
                <a:latin typeface="Times New Roman" pitchFamily="18" charset="0"/>
                <a:cs typeface="Times New Roman" pitchFamily="18" charset="0"/>
              </a:rPr>
              <a:t>Polymer-polymer direct bonding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For polymers with low surface energy (e.g., PDMS) use of surface treatment with oxygen plasma.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Fluidic interconnects (Press-fit and glued)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685800"/>
            <a:ext cx="8229600" cy="5791200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</a:pPr>
            <a:r>
              <a:rPr kumimoji="0" lang="en-IN" sz="2800" b="0" i="0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Press-fit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Utilizes elastic forces of coupling parts to seal fluidic access.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Sealing force is relatively small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suitable for low pressure applications.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IN" sz="2800" b="0" i="0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Glued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Adhesives offer good sealing by filling the gap between the external tube and the device opening.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Surface roughened for better adhesion.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Polymer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glue is used between glass capillary and silicon wafer.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Fluidic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interconnect ….contd.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Glass-sealing on metal tube is possible on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Kovar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tube (alloy made of 29% Ni, 17% Cu, and rest Fe). After fitting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Kovar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tube in fluidic access, glass beads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are placed around them. A carbon fixture around the joint helps annealing the assembly at 1020°C.</a:t>
            </a:r>
          </a:p>
          <a:p>
            <a:pPr marL="342900" indent="-342900">
              <a:spcBef>
                <a:spcPct val="20000"/>
              </a:spcBef>
            </a:pPr>
            <a:r>
              <a:rPr lang="en-IN" sz="2800" u="sng" dirty="0" smtClean="0">
                <a:latin typeface="Times New Roman" pitchFamily="18" charset="0"/>
                <a:cs typeface="Times New Roman" pitchFamily="18" charset="0"/>
              </a:rPr>
              <a:t>Plastic Coupler </a:t>
            </a:r>
            <a:endParaRPr lang="en-IN" sz="2800" u="sng" dirty="0" smtClean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The coupler is a smaller annular material at the tip of the external capillary that is inserted directly into etched opening.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Thermal annealing allows the plastic to reflow around the opening. Once cooled, hermetic seal results.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Couplers can offer elastic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force to some extent.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Integrated ‘O’ ring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Annular area will be etched first by one of the techniques (DRIE say).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Deposit an oxide (SiO</a:t>
            </a:r>
            <a:r>
              <a:rPr lang="en-IN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) or a nitride (Si</a:t>
            </a:r>
            <a:r>
              <a:rPr lang="en-IN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IN" sz="28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) layer.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Silicone rubber will be squeezed into the cavities.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Fluidic access will be opened from the back side by DRIE.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Oxide / nitride layer is etched in buffered HF acid and SF</a:t>
            </a:r>
            <a:r>
              <a:rPr lang="en-IN" sz="2800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plasma.</a:t>
            </a:r>
          </a:p>
          <a:p>
            <a:pPr marL="342900" lvl="0" indent="-342900">
              <a:spcBef>
                <a:spcPct val="20000"/>
              </a:spcBef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kumimoji="0" lang="en-IN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Biocompatibility - </a:t>
            </a:r>
            <a:r>
              <a:rPr kumimoji="0" lang="en-IN" sz="2800" b="1" i="0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m</a:t>
            </a:r>
            <a:r>
              <a:rPr lang="en-IN" sz="2800" b="1" dirty="0" err="1" smtClean="0">
                <a:latin typeface="Times New Roman" pitchFamily="18" charset="0"/>
                <a:cs typeface="Times New Roman" pitchFamily="18" charset="0"/>
              </a:rPr>
              <a:t>aterial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response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36416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Generated by the device inside host tissue.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Caused by diffusion of body-fluid from host tissue into the device.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Device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material swells, develops micro-cracks on the surface </a:t>
            </a:r>
            <a:r>
              <a:rPr kumimoji="0" lang="en-IN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altered mechanical properties, and in some cases leaching.</a:t>
            </a:r>
            <a:endParaRPr kumimoji="0" lang="en-IN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762000"/>
            <a:ext cx="8229600" cy="5638800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Generated by the host tissue.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Inflammation at the device-tissue interface, reddening and pain. If the inflammation lasts long and damages local cells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device is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cytotoxic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Otherwise, chemical signals released by the damaged tissue attract white blood cells.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 fibrous encapsulation made of foreign body giant cells and macrophages is formed around the device.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If the encapsulation does not affect the functioning of the device  BIOCOMPATIBLE.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Tests: </a:t>
            </a:r>
            <a:r>
              <a:rPr lang="en-IN" sz="2800" i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 vitro</a:t>
            </a:r>
            <a:r>
              <a:rPr lang="en-IN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(in laboratory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glasswares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) and </a:t>
            </a:r>
            <a:r>
              <a:rPr lang="en-IN" sz="2800" i="1" dirty="0" smtClean="0">
                <a:latin typeface="Times New Roman" pitchFamily="18" charset="0"/>
                <a:cs typeface="Times New Roman" pitchFamily="18" charset="0"/>
              </a:rPr>
              <a:t>in vivo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(in live animal or human).</a:t>
            </a:r>
            <a:endParaRPr kumimoji="0" lang="en-IN" sz="28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09600" y="228600"/>
            <a:ext cx="82296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kumimoji="0" lang="en-IN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Biocompatibility - </a:t>
            </a:r>
            <a:r>
              <a:rPr kumimoji="0" lang="en-IN" sz="2800" b="1" i="0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cellular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response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7646BE89648B4CB7FFFC9DC8FE376B" ma:contentTypeVersion="3" ma:contentTypeDescription="Create a new document." ma:contentTypeScope="" ma:versionID="fb46e4dd2fd46d7185f1343f982965e6">
  <xsd:schema xmlns:xsd="http://www.w3.org/2001/XMLSchema" xmlns:xs="http://www.w3.org/2001/XMLSchema" xmlns:p="http://schemas.microsoft.com/office/2006/metadata/properties" xmlns:ns2="1474c3d8-cf3f-4eb2-943c-90bcc1f64e59" targetNamespace="http://schemas.microsoft.com/office/2006/metadata/properties" ma:root="true" ma:fieldsID="7d84a042f9354e22409fe7fb1ee6a4af" ns2:_="">
    <xsd:import namespace="1474c3d8-cf3f-4eb2-943c-90bcc1f64e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74c3d8-cf3f-4eb2-943c-90bcc1f64e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22AF130-DD68-4CED-892F-D238EFCE30A9}"/>
</file>

<file path=customXml/itemProps2.xml><?xml version="1.0" encoding="utf-8"?>
<ds:datastoreItem xmlns:ds="http://schemas.openxmlformats.org/officeDocument/2006/customXml" ds:itemID="{72076F9B-EA4E-46FB-A66B-2810D82B147E}"/>
</file>

<file path=customXml/itemProps3.xml><?xml version="1.0" encoding="utf-8"?>
<ds:datastoreItem xmlns:ds="http://schemas.openxmlformats.org/officeDocument/2006/customXml" ds:itemID="{5F7C82DE-452B-4D92-BA51-D6AD503BFED6}"/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3024</Words>
  <Application>Microsoft Office PowerPoint</Application>
  <PresentationFormat>On-screen Show (4:3)</PresentationFormat>
  <Paragraphs>293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OFFICE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SN GANGULY</dc:creator>
  <cp:lastModifiedBy>SN GANGULY</cp:lastModifiedBy>
  <cp:revision>63</cp:revision>
  <dcterms:created xsi:type="dcterms:W3CDTF">2011-07-30T14:25:10Z</dcterms:created>
  <dcterms:modified xsi:type="dcterms:W3CDTF">2011-08-09T10:10:19Z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0x0101001A7646BE89648B4CB7FFFC9DC8FE376B</vt:lpwstr>
  </property>
</Properties>
</file>